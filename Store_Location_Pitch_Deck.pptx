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90b4380f-0fc0-c5d4-2fdd-4fb8619d408f}">
          <p14:sldIdLst>
            <p14:sldId id="256"/>
            <p14:sldId id="257"/>
            <p14:sldId id="258"/>
            <p14:sldId id="259"/>
          </p14:sldIdLst>
        </p14:section>
        <p14:section name="Backup" id="{a9f019e2-0acc-c5ee-75f9-9e977c800495}">
          <p14:sldIdLst>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2263A"/>
                </a:solidFill>
                <a:latin typeface="+mn-lt"/>
              </a:defRPr>
            </a:pPr>
            <a:r>
              <a:rPr sz="1100" b="0" i="0" u="none" strike="noStrike">
                <a:solidFill>
                  <a:srgbClr val="12263A"/>
                </a:solidFill>
                <a:latin typeface="+mn-lt"/>
              </a:rPr>
              <a:t>7-year NPV of the 3-store plan (₹ Cr)</a:t>
            </a:r>
          </a:p>
        </c:rich>
      </c:tx>
      <c:layout/>
      <c:overlay val="0"/>
    </c:title>
    <c:autoTitleDeleted val="0"/>
    <c:plotArea>
      <c:layout/>
      <c:barChart>
        <c:barDir val="col"/>
        <c:grouping val="clustered"/>
        <c:varyColors val="0"/>
        <c:ser>
          <c:idx val="0"/>
          <c:order val="0"/>
          <c:tx>
            <c:strRef>
              <c:f>Sheet1!$B$1</c:f>
              <c:strCache>
                <c:ptCount val="1"/>
                <c:pt idx="0">
                  <c:v>Expected NPV</c:v>
                </c:pt>
              </c:strCache>
            </c:strRef>
          </c:tx>
          <c:spPr>
            <a:solidFill>
              <a:srgbClr val="2347D9"/>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Sheet1!$A$2:$A$3</c:f>
              <c:multiLvlStrCache>
                <c:ptCount val="2"/>
                <c:lvl>
                  <c:pt idx="0">
                    <c:v>Open top-3 footfall sites</c:v>
                  </c:pt>
                  <c:pt idx="1">
                    <c:v>Risk-adjusted portfolio</c:v>
                  </c:pt>
                </c:lvl>
              </c:multiLvlStrCache>
            </c:multiLvlStrRef>
          </c:cat>
          <c:val>
            <c:numRef>
              <c:f>Sheet1!$B$2:$B$3</c:f>
              <c:numCache>
                <c:formatCode>General</c:formatCode>
                <c:ptCount val="2"/>
                <c:pt idx="0">
                  <c:v>0.86</c:v>
                </c:pt>
                <c:pt idx="1">
                  <c:v>5.83</c:v>
                </c:pt>
              </c:numCache>
            </c:numRef>
          </c:val>
        </c:ser>
        <c:ser>
          <c:idx val="1"/>
          <c:order val="1"/>
          <c:tx>
            <c:strRef>
              <c:f>Sheet1!$C$1</c:f>
              <c:strCache>
                <c:ptCount val="1"/>
                <c:pt idx="0">
                  <c:v>Downside case (P10)</c:v>
                </c:pt>
              </c:strCache>
            </c:strRef>
          </c:tx>
          <c:spPr>
            <a:solidFill>
              <a:srgbClr val="98A2B3"/>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Sheet1!$A$2:$A$3</c:f>
              <c:multiLvlStrCache>
                <c:ptCount val="2"/>
                <c:lvl>
                  <c:pt idx="0">
                    <c:v>Open top-3 footfall sites</c:v>
                  </c:pt>
                  <c:pt idx="1">
                    <c:v>Risk-adjusted portfolio</c:v>
                  </c:pt>
                </c:lvl>
              </c:multiLvlStrCache>
            </c:multiLvlStrRef>
          </c:cat>
          <c:val>
            <c:numRef>
              <c:f>Sheet1!$C$2:$C$3</c:f>
              <c:numCache>
                <c:formatCode>General</c:formatCode>
                <c:ptCount val="2"/>
                <c:pt idx="0">
                  <c:v>-5.04</c:v>
                </c:pt>
                <c:pt idx="1">
                  <c:v>1.43</c:v>
                </c:pt>
              </c:numCache>
            </c:numRef>
          </c:val>
        </c:ser>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63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D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2263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2263A"/>
                </a:solidFill>
                <a:latin typeface="+mn-lt"/>
              </a:defRPr>
            </a:pPr>
            <a:r>
              <a:rPr sz="1100" b="0" i="0" u="none" strike="noStrike">
                <a:solidFill>
                  <a:srgbClr val="12263A"/>
                </a:solidFill>
                <a:latin typeface="+mn-lt"/>
              </a:rPr>
              <a:t>Footfall vs expected 7-year NPV, by site</a:t>
            </a:r>
          </a:p>
        </c:rich>
      </c:tx>
      <c:layout/>
      <c:overlay val="0"/>
    </c:title>
    <c:autoTitleDeleted val="0"/>
    <c:plotArea>
      <c:layout/>
      <c:scatterChart>
        <c:scatterStyle val="lineMarker"/>
        <c:varyColors val="0"/>
        <c:ser>
          <c:idx val="0"/>
          <c:order val="0"/>
          <c:tx>
            <c:strRef>
              <c:f>Sheet1!$B$1</c:f>
              <c:strCache>
                <c:ptCount val="1"/>
                <c:pt idx="0">
                  <c:v>Open</c:v>
                </c:pt>
              </c:strCache>
            </c:strRef>
          </c:tx>
          <c:spPr>
            <a:solidFill>
              <a:srgbClr val="2347D9"/>
            </a:solidFill>
            <a:ln>
              <a:noFill/>
            </a:ln>
            <a:effectLst/>
          </c:spPr>
          <c:marker>
            <c:symbol val="circle"/>
            <c:size val="10"/>
            <c:spPr>
              <a:solidFill>
                <a:srgbClr val="2347D9"/>
              </a:solidFill>
              <a:ln w="9525" cap="flat">
                <a:solidFill>
                  <a:srgbClr val="2347D9"/>
                </a:solidFill>
                <a:prstDash val="solid"/>
                <a:round/>
              </a:ln>
              <a:effectLst/>
            </c:spPr>
          </c:marker>
          <c:dLbls>
            <c:dLbl>
              <c:idx val="0"/>
              <c:tx>
                <c:rich>
                  <a:bodyPr>
                    <a:spAutoFit/>
                  </a:bodyPr>
                  <a:lstStyle/>
                  <a:p>
                    <a:pPr>
                      <a:defRPr/>
                    </a:pPr>
                    <a:r>
                      <a:rPr lang="en-US" dirty="0"/>
                      <a:t>Ghatkopar East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6e4b-fe51-9195-824ff9a9250a}"/>
                </c:ext>
              </c:extLst>
            </c:dLbl>
            <c:dLbl>
              <c:idx val="1"/>
              <c:tx>
                <c:rich>
                  <a:bodyPr>
                    <a:spAutoFit/>
                  </a:bodyPr>
                  <a:lstStyle/>
                  <a:p>
                    <a:pPr>
                      <a:defRPr/>
                    </a:pPr>
                    <a:r>
                      <a:rPr lang="en-US" dirty="0"/>
                      <a:t>Malad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6e4b-fe51-9195-824ff9a9250a}"/>
                </c:ext>
              </c:extLst>
            </c:dLbl>
            <c:dLbl>
              <c:idx val="2"/>
              <c:tx>
                <c:rich>
                  <a:bodyPr>
                    <a:spAutoFit/>
                  </a:bodyPr>
                  <a:lstStyle/>
                  <a:p>
                    <a:pPr>
                      <a:defRPr/>
                    </a:pPr>
                    <a:r>
                      <a:rPr lang="en-US" dirty="0"/>
                      <a:t>Borivali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6e4b-fe51-9195-824ff9a9250a}"/>
                </c:ext>
              </c:extLst>
            </c:dLbl>
            <c:dLbl>
              <c:idx val="3"/>
              <c:tx>
                <c:rich>
                  <a:bodyPr>
                    <a:spAutoFit/>
                  </a:bodyPr>
                  <a:lstStyle/>
                  <a:p>
                    <a:pPr>
                      <a:defRPr/>
                    </a:pPr>
                    <a:r>
                      <a:rPr lang="en-US" dirty="0"/>
                      <a:t>Chembur</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6e4b-fe51-9195-824ff9a9250a}"/>
                </c:ext>
              </c:extLst>
            </c:dLbl>
            <c:dLbl>
              <c:idx val="4"/>
              <c:tx>
                <c:rich>
                  <a:bodyPr>
                    <a:spAutoFit/>
                  </a:bodyPr>
                  <a:lstStyle/>
                  <a:p>
                    <a:pPr>
                      <a:defRPr/>
                    </a:pPr>
                    <a:r>
                      <a:rPr lang="en-US" dirty="0"/>
                      <a:t>Goregaon East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6e4b-fe51-9195-824ff9a9250a}"/>
                </c:ext>
              </c:extLst>
            </c:dLbl>
            <c:dLbl>
              <c:idx val="5"/>
              <c:tx>
                <c:rich>
                  <a:bodyPr>
                    <a:spAutoFit/>
                  </a:bodyPr>
                  <a:lstStyle/>
                  <a:p>
                    <a:pPr>
                      <a:defRPr/>
                    </a:pPr>
                    <a:r>
                      <a:rPr lang="en-US" dirty="0"/>
                      <a:t>Mulund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6e4b-fe51-9195-824ff9a9250a}"/>
                </c:ext>
              </c:extLst>
            </c:dLbl>
            <c:dLbl>
              <c:idx val="6"/>
              <c:tx>
                <c:rich>
                  <a:bodyPr>
                    <a:spAutoFit/>
                  </a:bodyPr>
                  <a:lstStyle/>
                  <a:p>
                    <a:pPr>
                      <a:defRPr/>
                    </a:pPr>
                    <a:r>
                      <a:rPr lang="en-US" dirty="0"/>
                      <a:t>Lower Parel</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6e4b-fe51-9195-824ff9a9250a}"/>
                </c:ext>
              </c:extLst>
            </c:dLbl>
            <c:dLbl>
              <c:idx val="7"/>
              <c:tx>
                <c:rich>
                  <a:bodyPr>
                    <a:spAutoFit/>
                  </a:bodyPr>
                  <a:lstStyle/>
                  <a:p>
                    <a:pPr>
                      <a:defRPr/>
                    </a:pPr>
                    <a:r>
                      <a:rPr lang="en-US" dirty="0"/>
                      <a:t>Powai</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6e4b-fe51-9195-824ff9a9250a}"/>
                </c:ext>
              </c:extLst>
            </c:dLbl>
            <c:dLbl>
              <c:idx val="8"/>
              <c:tx>
                <c:rich>
                  <a:bodyPr>
                    <a:spAutoFit/>
                  </a:bodyPr>
                  <a:lstStyle/>
                  <a:p>
                    <a:pPr>
                      <a:defRPr/>
                    </a:pPr>
                    <a:r>
                      <a:rPr lang="en-US" dirty="0"/>
                      <a:t>Andheri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6e4b-fe51-9195-824ff9a9250a}"/>
                </c:ext>
              </c:extLst>
            </c:dLbl>
            <c:dLbl>
              <c:idx val="9"/>
              <c:tx>
                <c:rich>
                  <a:bodyPr>
                    <a:spAutoFit/>
                  </a:bodyPr>
                  <a:lstStyle/>
                  <a:p>
                    <a:pPr>
                      <a:defRPr/>
                    </a:pPr>
                    <a:r>
                      <a:rPr lang="en-US" dirty="0"/>
                      <a:t>Bandra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10-6e4b-fe51-9195-824ff9a9250a}"/>
                </c:ext>
              </c:extLst>
            </c:dLbl>
          </c:dLbls>
          <c:xVal>
            <c:numRef>
              <c:f>Sheet1!$A$2:$A$11</c:f>
              <c:numCache>
                <c:formatCode>General</c:formatCode>
                <c:ptCount val="10"/>
                <c:pt idx="0">
                  <c:v>24</c:v>
                </c:pt>
                <c:pt idx="1">
                  <c:v>26</c:v>
                </c:pt>
                <c:pt idx="2">
                  <c:v>22</c:v>
                </c:pt>
                <c:pt idx="3">
                  <c:v>20</c:v>
                </c:pt>
                <c:pt idx="4">
                  <c:v>21</c:v>
                </c:pt>
                <c:pt idx="5">
                  <c:v>16</c:v>
                </c:pt>
                <c:pt idx="6">
                  <c:v>35</c:v>
                </c:pt>
                <c:pt idx="7">
                  <c:v>18</c:v>
                </c:pt>
                <c:pt idx="8">
                  <c:v>28</c:v>
                </c:pt>
                <c:pt idx="9">
                  <c:v>32</c:v>
                </c:pt>
              </c:numCache>
            </c:numRef>
          </c:xVal>
          <c:yVal>
            <c:numRef>
              <c:f>Sheet1!$B$2:$B$11</c:f>
              <c:numCache>
                <c:formatCode>General</c:formatCode>
                <c:ptCount val="10"/>
                <c:pt idx="0">
                  <c:v>2.88</c:v>
                </c:pt>
                <c:pt idx="1">
                  <c:v/>
                </c:pt>
                <c:pt idx="2">
                  <c:v>1.84</c:v>
                </c:pt>
                <c:pt idx="3">
                  <c:v/>
                </c:pt>
                <c:pt idx="4">
                  <c:v/>
                </c:pt>
                <c:pt idx="5">
                  <c:v>1.1</c:v>
                </c:pt>
                <c:pt idx="6">
                  <c:v/>
                </c:pt>
                <c:pt idx="7">
                  <c:v/>
                </c:pt>
                <c:pt idx="8">
                  <c:v/>
                </c:pt>
                <c:pt idx="9">
                  <c:v/>
                </c:pt>
              </c:numCache>
            </c:numRef>
          </c:yVal>
          <c:smooth val="0"/>
        </c:ser>
        <c:ser>
          <c:idx val="1"/>
          <c:order val="1"/>
          <c:tx>
            <c:strRef>
              <c:f>Sheet1!$C$1</c:f>
              <c:strCache>
                <c:ptCount val="1"/>
                <c:pt idx="0">
                  <c:v>Not selected</c:v>
                </c:pt>
              </c:strCache>
            </c:strRef>
          </c:tx>
          <c:spPr>
            <a:solidFill>
              <a:srgbClr val="98A2B3"/>
            </a:solidFill>
            <a:ln>
              <a:noFill/>
            </a:ln>
            <a:effectLst/>
          </c:spPr>
          <c:marker>
            <c:symbol val="circle"/>
            <c:size val="10"/>
            <c:spPr>
              <a:solidFill>
                <a:srgbClr val="98A2B3"/>
              </a:solidFill>
              <a:ln w="9525" cap="flat">
                <a:solidFill>
                  <a:srgbClr val="98A2B3"/>
                </a:solidFill>
                <a:prstDash val="solid"/>
                <a:round/>
              </a:ln>
              <a:effectLst/>
            </c:spPr>
          </c:marker>
          <c:dLbls>
            <c:dLbl>
              <c:idx val="0"/>
              <c:tx>
                <c:rich>
                  <a:bodyPr>
                    <a:spAutoFit/>
                  </a:bodyPr>
                  <a:lstStyle/>
                  <a:p>
                    <a:pPr>
                      <a:defRPr/>
                    </a:pPr>
                    <a:r>
                      <a:rPr lang="en-US" dirty="0"/>
                      <a:t>Ghatkopar East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3106-413e-bc26-1b0929d933fb}"/>
                </c:ext>
              </c:extLst>
            </c:dLbl>
            <c:dLbl>
              <c:idx val="1"/>
              <c:tx>
                <c:rich>
                  <a:bodyPr>
                    <a:spAutoFit/>
                  </a:bodyPr>
                  <a:lstStyle/>
                  <a:p>
                    <a:pPr>
                      <a:defRPr/>
                    </a:pPr>
                    <a:r>
                      <a:rPr lang="en-US" dirty="0"/>
                      <a:t>Malad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3106-413e-bc26-1b0929d933fb}"/>
                </c:ext>
              </c:extLst>
            </c:dLbl>
            <c:dLbl>
              <c:idx val="2"/>
              <c:tx>
                <c:rich>
                  <a:bodyPr>
                    <a:spAutoFit/>
                  </a:bodyPr>
                  <a:lstStyle/>
                  <a:p>
                    <a:pPr>
                      <a:defRPr/>
                    </a:pPr>
                    <a:r>
                      <a:rPr lang="en-US" dirty="0"/>
                      <a:t>Borivali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3106-413e-bc26-1b0929d933fb}"/>
                </c:ext>
              </c:extLst>
            </c:dLbl>
            <c:dLbl>
              <c:idx val="3"/>
              <c:tx>
                <c:rich>
                  <a:bodyPr>
                    <a:spAutoFit/>
                  </a:bodyPr>
                  <a:lstStyle/>
                  <a:p>
                    <a:pPr>
                      <a:defRPr/>
                    </a:pPr>
                    <a:r>
                      <a:rPr lang="en-US" dirty="0"/>
                      <a:t>Chembur</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3106-413e-bc26-1b0929d933fb}"/>
                </c:ext>
              </c:extLst>
            </c:dLbl>
            <c:dLbl>
              <c:idx val="4"/>
              <c:tx>
                <c:rich>
                  <a:bodyPr>
                    <a:spAutoFit/>
                  </a:bodyPr>
                  <a:lstStyle/>
                  <a:p>
                    <a:pPr>
                      <a:defRPr/>
                    </a:pPr>
                    <a:r>
                      <a:rPr lang="en-US" dirty="0"/>
                      <a:t>Goregaon East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3106-413e-bc26-1b0929d933fb}"/>
                </c:ext>
              </c:extLst>
            </c:dLbl>
            <c:dLbl>
              <c:idx val="5"/>
              <c:tx>
                <c:rich>
                  <a:bodyPr>
                    <a:spAutoFit/>
                  </a:bodyPr>
                  <a:lstStyle/>
                  <a:p>
                    <a:pPr>
                      <a:defRPr/>
                    </a:pPr>
                    <a:r>
                      <a:rPr lang="en-US" dirty="0"/>
                      <a:t>Mulund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3106-413e-bc26-1b0929d933fb}"/>
                </c:ext>
              </c:extLst>
            </c:dLbl>
            <c:dLbl>
              <c:idx val="6"/>
              <c:tx>
                <c:rich>
                  <a:bodyPr>
                    <a:spAutoFit/>
                  </a:bodyPr>
                  <a:lstStyle/>
                  <a:p>
                    <a:pPr>
                      <a:defRPr/>
                    </a:pPr>
                    <a:r>
                      <a:rPr lang="en-US" dirty="0"/>
                      <a:t>Lower Parel</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3106-413e-bc26-1b0929d933fb}"/>
                </c:ext>
              </c:extLst>
            </c:dLbl>
            <c:dLbl>
              <c:idx val="7"/>
              <c:tx>
                <c:rich>
                  <a:bodyPr>
                    <a:spAutoFit/>
                  </a:bodyPr>
                  <a:lstStyle/>
                  <a:p>
                    <a:pPr>
                      <a:defRPr/>
                    </a:pPr>
                    <a:r>
                      <a:rPr lang="en-US" dirty="0"/>
                      <a:t>Powai</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3106-413e-bc26-1b0929d933fb}"/>
                </c:ext>
              </c:extLst>
            </c:dLbl>
            <c:dLbl>
              <c:idx val="8"/>
              <c:tx>
                <c:rich>
                  <a:bodyPr>
                    <a:spAutoFit/>
                  </a:bodyPr>
                  <a:lstStyle/>
                  <a:p>
                    <a:pPr>
                      <a:defRPr/>
                    </a:pPr>
                    <a:r>
                      <a:rPr lang="en-US" dirty="0"/>
                      <a:t>Andheri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3106-413e-bc26-1b0929d933fb}"/>
                </c:ext>
              </c:extLst>
            </c:dLbl>
            <c:dLbl>
              <c:idx val="9"/>
              <c:tx>
                <c:rich>
                  <a:bodyPr>
                    <a:spAutoFit/>
                  </a:bodyPr>
                  <a:lstStyle/>
                  <a:p>
                    <a:pPr>
                      <a:defRPr/>
                    </a:pPr>
                    <a:r>
                      <a:rPr lang="en-US" dirty="0"/>
                      <a:t>Bandra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10-3106-413e-bc26-1b0929d933fb}"/>
                </c:ext>
              </c:extLst>
            </c:dLbl>
          </c:dLbls>
          <c:xVal>
            <c:numRef>
              <c:f>Sheet1!$A$2:$A$11</c:f>
              <c:numCache>
                <c:formatCode>General</c:formatCode>
                <c:ptCount val="10"/>
                <c:pt idx="0">
                  <c:v>24</c:v>
                </c:pt>
                <c:pt idx="1">
                  <c:v>26</c:v>
                </c:pt>
                <c:pt idx="2">
                  <c:v>22</c:v>
                </c:pt>
                <c:pt idx="3">
                  <c:v>20</c:v>
                </c:pt>
                <c:pt idx="4">
                  <c:v>21</c:v>
                </c:pt>
                <c:pt idx="5">
                  <c:v>16</c:v>
                </c:pt>
                <c:pt idx="6">
                  <c:v>35</c:v>
                </c:pt>
                <c:pt idx="7">
                  <c:v>18</c:v>
                </c:pt>
                <c:pt idx="8">
                  <c:v>28</c:v>
                </c:pt>
                <c:pt idx="9">
                  <c:v>32</c:v>
                </c:pt>
              </c:numCache>
            </c:numRef>
          </c:xVal>
          <c:yVal>
            <c:numRef>
              <c:f>Sheet1!$C$2:$C$11</c:f>
              <c:numCache>
                <c:formatCode>General</c:formatCode>
                <c:ptCount val="10"/>
                <c:pt idx="0">
                  <c:v/>
                </c:pt>
                <c:pt idx="1">
                  <c:v>1.91</c:v>
                </c:pt>
                <c:pt idx="2">
                  <c:v/>
                </c:pt>
                <c:pt idx="3">
                  <c:v>1.75</c:v>
                </c:pt>
                <c:pt idx="4">
                  <c:v>1.23</c:v>
                </c:pt>
                <c:pt idx="5">
                  <c:v/>
                </c:pt>
                <c:pt idx="6">
                  <c:v>0.95</c:v>
                </c:pt>
                <c:pt idx="7">
                  <c:v/>
                </c:pt>
                <c:pt idx="8">
                  <c:v/>
                </c:pt>
                <c:pt idx="9">
                  <c:v/>
                </c:pt>
              </c:numCache>
            </c:numRef>
          </c:yVal>
          <c:smooth val="0"/>
        </c:ser>
        <c:ser>
          <c:idx val="2"/>
          <c:order val="2"/>
          <c:tx>
            <c:strRef>
              <c:f>Sheet1!$D$1</c:f>
              <c:strCache>
                <c:ptCount val="1"/>
                <c:pt idx="0">
                  <c:v>Gated out</c:v>
                </c:pt>
              </c:strCache>
            </c:strRef>
          </c:tx>
          <c:spPr>
            <a:solidFill>
              <a:srgbClr val="D92D20"/>
            </a:solidFill>
            <a:ln>
              <a:noFill/>
            </a:ln>
            <a:effectLst/>
          </c:spPr>
          <c:marker>
            <c:symbol val="circle"/>
            <c:size val="10"/>
            <c:spPr>
              <a:solidFill>
                <a:srgbClr val="D92D20"/>
              </a:solidFill>
              <a:ln w="9525" cap="flat">
                <a:solidFill>
                  <a:srgbClr val="D92D20"/>
                </a:solidFill>
                <a:prstDash val="solid"/>
                <a:round/>
              </a:ln>
              <a:effectLst/>
            </c:spPr>
          </c:marker>
          <c:dLbls>
            <c:dLbl>
              <c:idx val="0"/>
              <c:tx>
                <c:rich>
                  <a:bodyPr>
                    <a:spAutoFit/>
                  </a:bodyPr>
                  <a:lstStyle/>
                  <a:p>
                    <a:pPr>
                      <a:defRPr/>
                    </a:pPr>
                    <a:r>
                      <a:rPr lang="en-US" dirty="0"/>
                      <a:t>Ghatkopar East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4744-3de3-581a-b64b36fc2c17}"/>
                </c:ext>
              </c:extLst>
            </c:dLbl>
            <c:dLbl>
              <c:idx val="1"/>
              <c:tx>
                <c:rich>
                  <a:bodyPr>
                    <a:spAutoFit/>
                  </a:bodyPr>
                  <a:lstStyle/>
                  <a:p>
                    <a:pPr>
                      <a:defRPr/>
                    </a:pPr>
                    <a:r>
                      <a:rPr lang="en-US" dirty="0"/>
                      <a:t>Malad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4744-3de3-581a-b64b36fc2c17}"/>
                </c:ext>
              </c:extLst>
            </c:dLbl>
            <c:dLbl>
              <c:idx val="2"/>
              <c:tx>
                <c:rich>
                  <a:bodyPr>
                    <a:spAutoFit/>
                  </a:bodyPr>
                  <a:lstStyle/>
                  <a:p>
                    <a:pPr>
                      <a:defRPr/>
                    </a:pPr>
                    <a:r>
                      <a:rPr lang="en-US" dirty="0"/>
                      <a:t>Borivali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4744-3de3-581a-b64b36fc2c17}"/>
                </c:ext>
              </c:extLst>
            </c:dLbl>
            <c:dLbl>
              <c:idx val="3"/>
              <c:tx>
                <c:rich>
                  <a:bodyPr>
                    <a:spAutoFit/>
                  </a:bodyPr>
                  <a:lstStyle/>
                  <a:p>
                    <a:pPr>
                      <a:defRPr/>
                    </a:pPr>
                    <a:r>
                      <a:rPr lang="en-US" dirty="0"/>
                      <a:t>Chembur</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4744-3de3-581a-b64b36fc2c17}"/>
                </c:ext>
              </c:extLst>
            </c:dLbl>
            <c:dLbl>
              <c:idx val="4"/>
              <c:tx>
                <c:rich>
                  <a:bodyPr>
                    <a:spAutoFit/>
                  </a:bodyPr>
                  <a:lstStyle/>
                  <a:p>
                    <a:pPr>
                      <a:defRPr/>
                    </a:pPr>
                    <a:r>
                      <a:rPr lang="en-US" dirty="0"/>
                      <a:t>Goregaon East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4744-3de3-581a-b64b36fc2c17}"/>
                </c:ext>
              </c:extLst>
            </c:dLbl>
            <c:dLbl>
              <c:idx val="5"/>
              <c:tx>
                <c:rich>
                  <a:bodyPr>
                    <a:spAutoFit/>
                  </a:bodyPr>
                  <a:lstStyle/>
                  <a:p>
                    <a:pPr>
                      <a:defRPr/>
                    </a:pPr>
                    <a:r>
                      <a:rPr lang="en-US" dirty="0"/>
                      <a:t>Mulund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4744-3de3-581a-b64b36fc2c17}"/>
                </c:ext>
              </c:extLst>
            </c:dLbl>
            <c:dLbl>
              <c:idx val="6"/>
              <c:tx>
                <c:rich>
                  <a:bodyPr>
                    <a:spAutoFit/>
                  </a:bodyPr>
                  <a:lstStyle/>
                  <a:p>
                    <a:pPr>
                      <a:defRPr/>
                    </a:pPr>
                    <a:r>
                      <a:rPr lang="en-US" dirty="0"/>
                      <a:t>Lower Parel</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4744-3de3-581a-b64b36fc2c17}"/>
                </c:ext>
              </c:extLst>
            </c:dLbl>
            <c:dLbl>
              <c:idx val="7"/>
              <c:tx>
                <c:rich>
                  <a:bodyPr>
                    <a:spAutoFit/>
                  </a:bodyPr>
                  <a:lstStyle/>
                  <a:p>
                    <a:pPr>
                      <a:defRPr/>
                    </a:pPr>
                    <a:r>
                      <a:rPr lang="en-US" dirty="0"/>
                      <a:t>Powai</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4744-3de3-581a-b64b36fc2c17}"/>
                </c:ext>
              </c:extLst>
            </c:dLbl>
            <c:dLbl>
              <c:idx val="8"/>
              <c:tx>
                <c:rich>
                  <a:bodyPr>
                    <a:spAutoFit/>
                  </a:bodyPr>
                  <a:lstStyle/>
                  <a:p>
                    <a:pPr>
                      <a:defRPr/>
                    </a:pPr>
                    <a:r>
                      <a:rPr lang="en-US" dirty="0"/>
                      <a:t>Andheri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9-4744-3de3-581a-b64b36fc2c17}"/>
                </c:ext>
              </c:extLst>
            </c:dLbl>
            <c:dLbl>
              <c:idx val="9"/>
              <c:tx>
                <c:rich>
                  <a:bodyPr>
                    <a:spAutoFit/>
                  </a:bodyPr>
                  <a:lstStyle/>
                  <a:p>
                    <a:pPr>
                      <a:defRPr/>
                    </a:pPr>
                    <a:r>
                      <a:rPr lang="en-US" dirty="0"/>
                      <a:t>Bandra West</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10-4744-3de3-581a-b64b36fc2c17}"/>
                </c:ext>
              </c:extLst>
            </c:dLbl>
          </c:dLbls>
          <c:xVal>
            <c:numRef>
              <c:f>Sheet1!$A$2:$A$11</c:f>
              <c:numCache>
                <c:formatCode>General</c:formatCode>
                <c:ptCount val="10"/>
                <c:pt idx="0">
                  <c:v>24</c:v>
                </c:pt>
                <c:pt idx="1">
                  <c:v>26</c:v>
                </c:pt>
                <c:pt idx="2">
                  <c:v>22</c:v>
                </c:pt>
                <c:pt idx="3">
                  <c:v>20</c:v>
                </c:pt>
                <c:pt idx="4">
                  <c:v>21</c:v>
                </c:pt>
                <c:pt idx="5">
                  <c:v>16</c:v>
                </c:pt>
                <c:pt idx="6">
                  <c:v>35</c:v>
                </c:pt>
                <c:pt idx="7">
                  <c:v>18</c:v>
                </c:pt>
                <c:pt idx="8">
                  <c:v>28</c:v>
                </c:pt>
                <c:pt idx="9">
                  <c:v>32</c:v>
                </c:pt>
              </c:numCache>
            </c:numRef>
          </c:xVal>
          <c:yVal>
            <c:numRef>
              <c:f>Sheet1!$D$2:$D$11</c:f>
              <c:numCache>
                <c:formatCode>General</c:formatCode>
                <c:ptCount val="10"/>
                <c:pt idx="0">
                  <c:v/>
                </c:pt>
                <c:pt idx="1">
                  <c:v/>
                </c:pt>
                <c:pt idx="2">
                  <c:v/>
                </c:pt>
                <c:pt idx="3">
                  <c:v/>
                </c:pt>
                <c:pt idx="4">
                  <c:v/>
                </c:pt>
                <c:pt idx="5">
                  <c:v/>
                </c:pt>
                <c:pt idx="6">
                  <c:v/>
                </c:pt>
                <c:pt idx="7">
                  <c:v>0.16</c:v>
                </c:pt>
                <c:pt idx="8">
                  <c:v>0</c:v>
                </c:pt>
                <c:pt idx="9">
                  <c:v>-0.09</c:v>
                </c:pt>
              </c:numCache>
            </c:numRef>
          </c:yVal>
          <c:smooth val="0"/>
        </c:ser>
        <c:dLbls>
          <c:numFmt formatCode="General" sourceLinked="0"/>
          <c:txPr>
            <a:bodyPr/>
            <a:lstStyle/>
            <a:p>
              <a:pPr>
                <a:defRPr b="0" i="0" strike="noStrike" sz="900" u="none">
                  <a:solidFill>
                    <a:srgbClr val="000000"/>
                  </a:solidFill>
                  <a:latin typeface="+mn-lt"/>
                </a:defRPr>
              </a:pPr>
            </a:p>
          </c:txPr>
          <c:dLblPos val="r"/>
          <c:showLegendKey val="0"/>
          <c:showVal val="0"/>
          <c:showCatName val="0"/>
          <c:showSerName val="0"/>
          <c:showPercent val="0"/>
          <c:showBubbleSize val="0"/>
        </c:dLbls>
        <c:axId val="2094734554"/>
        <c:axId val="2094734552"/>
      </c:scatterChart>
      <c:valAx>
        <c:axId val="2094734554"/>
        <c:scaling>
          <c:orientation val="minMax"/>
          <c:max val="38"/>
          <c:min val="10"/>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Daily footfall (000)</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12263A"/>
                </a:solidFill>
                <a:latin typeface="+mn-lt"/>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D5DDE6"/>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Expected NPV (₹ Cr)</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1226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2263A"/>
                </a:solidFill>
                <a:latin typeface="+mn-lt"/>
              </a:defRPr>
            </a:pPr>
            <a:r>
              <a:rPr sz="1100" b="0" i="0" u="none" strike="noStrike">
                <a:solidFill>
                  <a:srgbClr val="12263A"/>
                </a:solidFill>
                <a:latin typeface="+mn-lt"/>
              </a:rPr>
              <a:t>Expected 7-year NPV by site (₹ Cr). Blue = open, red = gated out</a:t>
            </a:r>
          </a:p>
        </c:rich>
      </c:tx>
      <c:layout/>
      <c:overlay val="0"/>
    </c:title>
    <c:autoTitleDeleted val="0"/>
    <c:plotArea>
      <c:layout/>
      <c:barChart>
        <c:barDir val="bar"/>
        <c:grouping val="clustered"/>
        <c:varyColors val="0"/>
        <c:ser>
          <c:idx val="0"/>
          <c:order val="0"/>
          <c:tx>
            <c:strRef>
              <c:f>Sheet1!$B$1</c:f>
              <c:strCache>
                <c:ptCount val="1"/>
                <c:pt idx="0">
                  <c:v>Expected NPV (₹ Cr)</c:v>
                </c:pt>
              </c:strCache>
            </c:strRef>
          </c:tx>
          <c:spPr>
            <a:solidFill>
              <a:srgbClr val="2347D9"/>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2347D9"/>
              </a:solidFill>
              <a:effectLst/>
            </c:spPr>
          </c:dPt>
          <c:dPt>
            <c:idx val="1"/>
            <c:invertIfNegative val="0"/>
            <c:bubble3D val="0"/>
            <c:spPr>
              <a:solidFill>
                <a:srgbClr val="98A2B3"/>
              </a:solidFill>
              <a:effectLst/>
            </c:spPr>
          </c:dPt>
          <c:dPt>
            <c:idx val="2"/>
            <c:invertIfNegative val="0"/>
            <c:bubble3D val="0"/>
            <c:spPr>
              <a:solidFill>
                <a:srgbClr val="2347D9"/>
              </a:solidFill>
              <a:effectLst/>
            </c:spPr>
          </c:dPt>
          <c:dPt>
            <c:idx val="3"/>
            <c:invertIfNegative val="0"/>
            <c:bubble3D val="0"/>
            <c:spPr>
              <a:solidFill>
                <a:srgbClr val="98A2B3"/>
              </a:solidFill>
              <a:effectLst/>
            </c:spPr>
          </c:dPt>
          <c:dPt>
            <c:idx val="4"/>
            <c:invertIfNegative val="0"/>
            <c:bubble3D val="0"/>
            <c:spPr>
              <a:solidFill>
                <a:srgbClr val="98A2B3"/>
              </a:solidFill>
              <a:effectLst/>
            </c:spPr>
          </c:dPt>
          <c:dPt>
            <c:idx val="5"/>
            <c:invertIfNegative val="0"/>
            <c:bubble3D val="0"/>
            <c:spPr>
              <a:solidFill>
                <a:srgbClr val="2347D9"/>
              </a:solidFill>
              <a:effectLst/>
            </c:spPr>
          </c:dPt>
          <c:dPt>
            <c:idx val="6"/>
            <c:invertIfNegative val="0"/>
            <c:bubble3D val="0"/>
            <c:spPr>
              <a:solidFill>
                <a:srgbClr val="98A2B3"/>
              </a:solidFill>
              <a:effectLst/>
            </c:spPr>
          </c:dPt>
          <c:dPt>
            <c:idx val="7"/>
            <c:invertIfNegative val="0"/>
            <c:bubble3D val="0"/>
            <c:spPr>
              <a:solidFill>
                <a:srgbClr val="D92D20"/>
              </a:solidFill>
              <a:effectLst/>
            </c:spPr>
          </c:dPt>
          <c:dPt>
            <c:idx val="8"/>
            <c:invertIfNegative val="0"/>
            <c:bubble3D val="0"/>
            <c:spPr>
              <a:solidFill>
                <a:srgbClr val="D92D20"/>
              </a:solidFill>
              <a:effectLst/>
            </c:spPr>
          </c:dPt>
          <c:dPt>
            <c:idx val="9"/>
            <c:invertIfNegative val="0"/>
            <c:bubble3D val="0"/>
            <c:spPr>
              <a:solidFill>
                <a:srgbClr val="D92D20"/>
              </a:solidFill>
              <a:effectLst/>
            </c:spPr>
          </c:dPt>
          <c:cat>
            <c:multiLvlStrRef>
              <c:f>Sheet1!$A$2:$A$11</c:f>
              <c:multiLvlStrCache>
                <c:ptCount val="10"/>
                <c:lvl>
                  <c:pt idx="0">
                    <c:v>Ghatkopar East</c:v>
                  </c:pt>
                  <c:pt idx="1">
                    <c:v>Malad West</c:v>
                  </c:pt>
                  <c:pt idx="2">
                    <c:v>Borivali West</c:v>
                  </c:pt>
                  <c:pt idx="3">
                    <c:v>Chembur</c:v>
                  </c:pt>
                  <c:pt idx="4">
                    <c:v>Goregaon East</c:v>
                  </c:pt>
                  <c:pt idx="5">
                    <c:v>Mulund West</c:v>
                  </c:pt>
                  <c:pt idx="6">
                    <c:v>Lower Parel</c:v>
                  </c:pt>
                  <c:pt idx="7">
                    <c:v>Powai</c:v>
                  </c:pt>
                  <c:pt idx="8">
                    <c:v>Andheri West</c:v>
                  </c:pt>
                  <c:pt idx="9">
                    <c:v>Bandra West</c:v>
                  </c:pt>
                </c:lvl>
              </c:multiLvlStrCache>
            </c:multiLvlStrRef>
          </c:cat>
          <c:val>
            <c:numRef>
              <c:f>Sheet1!$B$2:$B$11</c:f>
              <c:numCache>
                <c:formatCode>General</c:formatCode>
                <c:ptCount val="10"/>
                <c:pt idx="0">
                  <c:v>2.88</c:v>
                </c:pt>
                <c:pt idx="1">
                  <c:v>1.91</c:v>
                </c:pt>
                <c:pt idx="2">
                  <c:v>1.84</c:v>
                </c:pt>
                <c:pt idx="3">
                  <c:v>1.75</c:v>
                </c:pt>
                <c:pt idx="4">
                  <c:v>1.23</c:v>
                </c:pt>
                <c:pt idx="5">
                  <c:v>1.1</c:v>
                </c:pt>
                <c:pt idx="6">
                  <c:v>0.95</c:v>
                </c:pt>
                <c:pt idx="7">
                  <c:v>0.16</c:v>
                </c:pt>
                <c:pt idx="8">
                  <c:v>0</c:v>
                </c:pt>
                <c:pt idx="9">
                  <c:v>-0.09</c:v>
                </c:pt>
              </c:numCache>
            </c:numRef>
          </c:val>
        </c:ser>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63A"/>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5DD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retail chain can fund only a few new stores, and managers usually chase footfall. But footfall is not profit: rent, competition and cannibalisation decide it. Opening the three highest-footfall sites would earn about 0.9 crore in expected value and risks a loss. The portfolio this tool recommends earns about 5.8 crore.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ten Mumbai sites there is no pattern between footfall and value. The three highest-footfall sites rank 7th, 9th, 10th on value, while Ghatkopar East, only 5th on footfall, ranks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open the app. Set the budget and priorities. The tool calibrates revenue on six existing stores, nets out cannibalisation, simulates risk and picks the best portfolio: Borivali West, Mulund West, Ghatkopar East. About 3.5 crore of capex, 5.8 crore expected NPV, 96 percent chance of being positive, and the same three sites win in all six stress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value: about 5 crore more expected value than ranking on footfall, one repeatable method, and a gated rollout. One key limitation: the data is synthetic and the model rests on six stores, so trust the ranking and treat the rupee figures as indicative. Next step: calibrate on the client's real data and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how I would structure the work with the tech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stress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project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347D9"/>
          </a:solidFill>
          <a:ln/>
        </p:spPr>
      </p:sp>
      <p:sp>
        <p:nvSpPr>
          <p:cNvPr id="3" name="Text 1"/>
          <p:cNvSpPr/>
          <p:nvPr>
            <p:ph idx="101" type="title" hasCustomPrompt="1"/>
          </p:nvPr>
        </p:nvSpPr>
        <p:spPr>
          <a:xfrm>
            <a:off x="457200" y="274320"/>
            <a:ext cx="8229600" cy="868680"/>
          </a:xfrm>
          <a:prstGeom prst="rect">
            <a:avLst/>
          </a:prstGeom>
          <a:noFill/>
          <a:ln/>
        </p:spPr>
        <p:txBody>
          <a:bodyPr wrap="square" rtlCol="0"/>
          <a:lstStyle>
            <a:lvl1pPr algn="l" indent="0" marL="0">
              <a:buNone/>
              <a:defRPr lang="en-US" sz="2200" b="1" dirty="0">
                <a:solidFill>
                  <a:srgbClr val="12263A"/>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rtlCol="0" anchor="ctr"/>
          <a:lstStyle/>
          <a:p>
            <a:pPr algn="l" indent="0" marL="0">
              <a:buNone/>
            </a:pPr>
            <a:r>
              <a:rPr lang="en-US" sz="2200" b="1" dirty="0">
                <a:solidFill>
                  <a:srgbClr val="12263A"/>
                </a:solidFill>
              </a:rPr>
              <a:t>Footfall alone sends stores to the wrong places</a:t>
            </a:r>
            <a:endParaRPr lang="en-US" sz="2200" dirty="0"/>
          </a:p>
        </p:txBody>
      </p:sp>
      <p:sp>
        <p:nvSpPr>
          <p:cNvPr id="4" name="Problem points"/>
          <p:cNvSpPr txBox="1"/>
          <p:nvPr/>
        </p:nvSpPr>
        <p:spPr>
          <a:xfrm>
            <a:off x="457200" y="1325880"/>
            <a:ext cx="3566160" cy="3017520"/>
          </a:xfrm>
          <a:prstGeom prst="rect">
            <a:avLst/>
          </a:prstGeom>
          <a:noFill/>
          <a:ln/>
        </p:spPr>
        <p:txBody>
          <a:bodyPr wrap="square" rtlCol="0" anchor="t"/>
          <a:lstStyle/>
          <a:p>
            <a:pPr marL="342900" indent="-342900">
              <a:spcAft>
                <a:spcPts val="1000"/>
              </a:spcAft>
              <a:buSzPct val="100000"/>
              <a:buChar char="•"/>
            </a:pPr>
            <a:r>
              <a:rPr lang="en-US" sz="1500" dirty="0">
                <a:solidFill>
                  <a:srgbClr val="12263A"/>
                </a:solidFill>
              </a:rPr>
              <a:t>A chain can fund only a few new stores across Mumbai.</a:t>
            </a:r>
            <a:endParaRPr lang="en-US" sz="1500" dirty="0"/>
          </a:p>
          <a:p>
            <a:pPr marL="342900" indent="-342900">
              <a:spcAft>
                <a:spcPts val="1000"/>
              </a:spcAft>
              <a:buSzPct val="100000"/>
              <a:buChar char="•"/>
            </a:pPr>
            <a:r>
              <a:rPr lang="en-US" sz="1500" dirty="0">
                <a:solidFill>
                  <a:srgbClr val="12263A"/>
                </a:solidFill>
              </a:rPr>
              <a:t>Sites differ on demand, competition, rent and access.</a:t>
            </a:r>
            <a:endParaRPr lang="en-US" sz="1500" dirty="0"/>
          </a:p>
          <a:p>
            <a:pPr marL="342900" indent="-342900">
              <a:spcAft>
                <a:spcPts val="1000"/>
              </a:spcAft>
              <a:buSzPct val="100000"/>
              <a:buChar char="•"/>
            </a:pPr>
            <a:r>
              <a:rPr lang="en-US" sz="1500" dirty="0">
                <a:solidFill>
                  <a:srgbClr val="12263A"/>
                </a:solidFill>
              </a:rPr>
              <a:t>A new store can pull sales from an existing one.</a:t>
            </a:r>
            <a:endParaRPr lang="en-US" sz="1500" dirty="0"/>
          </a:p>
          <a:p>
            <a:pPr marL="342900" indent="-342900">
              <a:spcAft>
                <a:spcPts val="1000"/>
              </a:spcAft>
              <a:buSzPct val="100000"/>
              <a:buChar char="•"/>
            </a:pPr>
            <a:r>
              <a:rPr lang="en-US" sz="1500" dirty="0">
                <a:solidFill>
                  <a:srgbClr val="12263A"/>
                </a:solidFill>
              </a:rPr>
              <a:t>Management needs one defensible way to rank sites.</a:t>
            </a:r>
            <a:endParaRPr lang="en-US" sz="1500" dirty="0"/>
          </a:p>
        </p:txBody>
      </p:sp>
      <p:graphicFrame>
        <p:nvGraphicFramePr>
          <p:cNvPr id="5" name="Chart 0" descr=""/>
          <p:cNvGraphicFramePr/>
          <p:nvPr/>
        </p:nvGraphicFramePr>
        <p:xfrm>
          <a:off x="4206240" y="1234440"/>
          <a:ext cx="448056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rtlCol="0" anchor="ctr"/>
          <a:lstStyle/>
          <a:p>
            <a:pPr algn="l" indent="0" marL="0">
              <a:buNone/>
            </a:pPr>
            <a:r>
              <a:rPr lang="en-US" sz="2200" b="1" dirty="0">
                <a:solidFill>
                  <a:srgbClr val="12263A"/>
                </a:solidFill>
              </a:rPr>
              <a:t>Footfall does not predict value</a:t>
            </a:r>
            <a:endParaRPr lang="en-US" sz="2200" dirty="0"/>
          </a:p>
        </p:txBody>
      </p:sp>
      <p:graphicFrame>
        <p:nvGraphicFramePr>
          <p:cNvPr id="4" name="Chart 0" descr=""/>
          <p:cNvGraphicFramePr/>
          <p:nvPr/>
        </p:nvGraphicFramePr>
        <p:xfrm>
          <a:off x="365760" y="1188720"/>
          <a:ext cx="5577840" cy="3566160"/>
        </p:xfrm>
        <a:graphic xmlns:a="http://schemas.openxmlformats.org/drawingml/2006/main">
          <a:graphicData uri="http://schemas.openxmlformats.org/drawingml/2006/chart">
            <c:chart xmlns:c="http://schemas.openxmlformats.org/drawingml/2006/chart" r:id="rId1"/>
          </a:graphicData>
        </a:graphic>
      </p:graphicFrame>
      <p:sp>
        <p:nvSpPr>
          <p:cNvPr id="5" name="Insight callouts"/>
          <p:cNvSpPr txBox="1"/>
          <p:nvPr/>
        </p:nvSpPr>
        <p:spPr>
          <a:xfrm>
            <a:off x="6217920" y="1371600"/>
            <a:ext cx="2468880" cy="3108960"/>
          </a:xfrm>
          <a:prstGeom prst="rect">
            <a:avLst/>
          </a:prstGeom>
          <a:noFill/>
          <a:ln/>
        </p:spPr>
        <p:txBody>
          <a:bodyPr wrap="square" lIns="0" tIns="0" rIns="0" bIns="0" rtlCol="0" anchor="t"/>
          <a:lstStyle/>
          <a:p>
            <a:pPr indent="0" marL="0">
              <a:buNone/>
            </a:pPr>
            <a:r>
              <a:rPr lang="en-US" sz="1300" b="1" dirty="0">
                <a:solidFill>
                  <a:srgbClr val="D92D20"/>
                </a:solidFill>
              </a:rPr>
              <a:t>Top-3 footfall, weak value</a:t>
            </a:r>
            <a:endParaRPr lang="en-US" sz="1300" dirty="0"/>
          </a:p>
          <a:p>
            <a:pPr indent="0" marL="0">
              <a:buNone/>
            </a:pPr>
            <a:r>
              <a:rPr lang="en-US" sz="1300" dirty="0">
                <a:solidFill>
                  <a:srgbClr val="12263A"/>
                </a:solidFill>
              </a:rPr>
              <a:t>Lower Parel, Bandra West, Andheri West rank 7th, 9th, 10th of 10 on value.</a:t>
            </a:r>
            <a:endParaRPr lang="en-US" sz="1300" dirty="0"/>
          </a:p>
          <a:p>
            <a:pPr indent="0" marL="0">
              <a:buNone/>
            </a:pPr>
            <a:r>
              <a:rPr lang="en-US" sz="800" dirty="0">
                <a:solidFill>
                  <a:srgbClr val="12263A"/>
                </a:solidFill>
              </a:rPr>
              <a:t> </a:t>
            </a:r>
            <a:endParaRPr lang="en-US" sz="1300" dirty="0"/>
          </a:p>
          <a:p>
            <a:pPr indent="0" marL="0">
              <a:buNone/>
            </a:pPr>
            <a:r>
              <a:rPr lang="en-US" sz="1300" b="1" dirty="0">
                <a:solidFill>
                  <a:srgbClr val="2347D9"/>
                </a:solidFill>
              </a:rPr>
              <a:t>Best value, middling footfall</a:t>
            </a:r>
            <a:endParaRPr lang="en-US" sz="1300" dirty="0"/>
          </a:p>
          <a:p>
            <a:pPr indent="0" marL="0">
              <a:buNone/>
            </a:pPr>
            <a:r>
              <a:rPr lang="en-US" sz="1300" dirty="0">
                <a:solidFill>
                  <a:srgbClr val="12263A"/>
                </a:solidFill>
              </a:rPr>
              <a:t>Ghatkopar East is 5th on footfall, first on value (₹2.9 Cr).</a:t>
            </a:r>
            <a:endParaRPr lang="en-US" sz="13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rtlCol="0" anchor="ctr"/>
          <a:lstStyle/>
          <a:p>
            <a:pPr algn="l" indent="0" marL="0">
              <a:buNone/>
            </a:pPr>
            <a:r>
              <a:rPr lang="en-US" sz="2200" b="1" dirty="0">
                <a:solidFill>
                  <a:srgbClr val="12263A"/>
                </a:solidFill>
              </a:rPr>
              <a:t>Open Borivali West, Mulund West, Ghatkopar East</a:t>
            </a:r>
            <a:endParaRPr lang="en-US" sz="2200" dirty="0"/>
          </a:p>
        </p:txBody>
      </p:sp>
      <p:graphicFrame>
        <p:nvGraphicFramePr>
          <p:cNvPr id="4" name="Chart 0" descr=""/>
          <p:cNvGraphicFramePr/>
          <p:nvPr/>
        </p:nvGraphicFramePr>
        <p:xfrm>
          <a:off x="365760" y="118872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5" name="Selection footnote"/>
          <p:cNvSpPr txBox="1"/>
          <p:nvPr/>
        </p:nvSpPr>
        <p:spPr>
          <a:xfrm>
            <a:off x="457200" y="4709160"/>
            <a:ext cx="5120640" cy="274320"/>
          </a:xfrm>
          <a:prstGeom prst="rect">
            <a:avLst/>
          </a:prstGeom>
          <a:noFill/>
          <a:ln/>
        </p:spPr>
        <p:txBody>
          <a:bodyPr wrap="square" lIns="0" tIns="0" rIns="0" bIns="0" rtlCol="0" anchor="ctr"/>
          <a:lstStyle/>
          <a:p>
            <a:pPr indent="0" marL="0">
              <a:buNone/>
            </a:pPr>
            <a:r>
              <a:rPr lang="en-US" sz="1000" dirty="0">
                <a:solidFill>
                  <a:srgbClr val="5B6B7C"/>
                </a:solidFill>
              </a:rPr>
              <a:t>Sites are picked on risk-adjusted value (average of expected and downside NPV), so a higher-NPV site can lose to a safer one.</a:t>
            </a:r>
            <a:endParaRPr lang="en-US" sz="1000" dirty="0"/>
          </a:p>
        </p:txBody>
      </p:sp>
      <p:sp>
        <p:nvSpPr>
          <p:cNvPr id="6" name="NPV card"/>
          <p:cNvSpPr/>
          <p:nvPr/>
        </p:nvSpPr>
        <p:spPr>
          <a:xfrm>
            <a:off x="5760720" y="1234440"/>
            <a:ext cx="2926080" cy="777240"/>
          </a:xfrm>
          <a:prstGeom prst="rect">
            <a:avLst/>
          </a:prstGeom>
          <a:solidFill>
            <a:srgbClr val="EEF2F6"/>
          </a:solidFill>
          <a:ln w="9525">
            <a:solidFill>
              <a:srgbClr val="D5DDE6"/>
            </a:solidFill>
            <a:prstDash val="solid"/>
          </a:ln>
        </p:spPr>
      </p:sp>
      <p:sp>
        <p:nvSpPr>
          <p:cNvPr id="7" name="NPV value"/>
          <p:cNvSpPr txBox="1"/>
          <p:nvPr/>
        </p:nvSpPr>
        <p:spPr>
          <a:xfrm>
            <a:off x="5897880" y="1325880"/>
            <a:ext cx="2651760" cy="388620"/>
          </a:xfrm>
          <a:prstGeom prst="rect">
            <a:avLst/>
          </a:prstGeom>
          <a:noFill/>
          <a:ln/>
        </p:spPr>
        <p:txBody>
          <a:bodyPr wrap="square" lIns="0" tIns="0" rIns="0" bIns="0" rtlCol="0" anchor="ctr"/>
          <a:lstStyle/>
          <a:p>
            <a:pPr indent="0" marL="0">
              <a:buNone/>
            </a:pPr>
            <a:r>
              <a:rPr lang="en-US" sz="2600" b="1" dirty="0">
                <a:solidFill>
                  <a:srgbClr val="2347D9"/>
                </a:solidFill>
                <a:latin typeface="Georgia" pitchFamily="34" charset="0"/>
                <a:ea typeface="Georgia" pitchFamily="34" charset="-122"/>
                <a:cs typeface="Georgia" pitchFamily="34" charset="-120"/>
              </a:rPr>
              <a:t>₹5.83 Cr</a:t>
            </a:r>
            <a:endParaRPr lang="en-US" sz="2600" dirty="0"/>
          </a:p>
        </p:txBody>
      </p:sp>
      <p:sp>
        <p:nvSpPr>
          <p:cNvPr id="8" name="NPV label"/>
          <p:cNvSpPr txBox="1"/>
          <p:nvPr/>
        </p:nvSpPr>
        <p:spPr>
          <a:xfrm>
            <a:off x="5897880" y="1685239"/>
            <a:ext cx="2651760" cy="295351"/>
          </a:xfrm>
          <a:prstGeom prst="rect">
            <a:avLst/>
          </a:prstGeom>
          <a:noFill/>
          <a:ln/>
        </p:spPr>
        <p:txBody>
          <a:bodyPr wrap="square" lIns="0" tIns="0" rIns="0" bIns="0" rtlCol="0" anchor="t"/>
          <a:lstStyle/>
          <a:p>
            <a:pPr indent="0" marL="0">
              <a:buNone/>
            </a:pPr>
            <a:r>
              <a:rPr lang="en-US" sz="1200" dirty="0">
                <a:solidFill>
                  <a:srgbClr val="12263A"/>
                </a:solidFill>
              </a:rPr>
              <a:t>Expected NPV, 7 years</a:t>
            </a:r>
            <a:endParaRPr lang="en-US" sz="1200" dirty="0"/>
          </a:p>
        </p:txBody>
      </p:sp>
      <p:sp>
        <p:nvSpPr>
          <p:cNvPr id="9" name="Downside card"/>
          <p:cNvSpPr/>
          <p:nvPr/>
        </p:nvSpPr>
        <p:spPr>
          <a:xfrm>
            <a:off x="5760720" y="2103120"/>
            <a:ext cx="2926080" cy="777240"/>
          </a:xfrm>
          <a:prstGeom prst="rect">
            <a:avLst/>
          </a:prstGeom>
          <a:solidFill>
            <a:srgbClr val="EEF2F6"/>
          </a:solidFill>
          <a:ln w="9525">
            <a:solidFill>
              <a:srgbClr val="D5DDE6"/>
            </a:solidFill>
            <a:prstDash val="solid"/>
          </a:ln>
        </p:spPr>
      </p:sp>
      <p:sp>
        <p:nvSpPr>
          <p:cNvPr id="10" name="Downside value"/>
          <p:cNvSpPr txBox="1"/>
          <p:nvPr/>
        </p:nvSpPr>
        <p:spPr>
          <a:xfrm>
            <a:off x="5897880" y="2194560"/>
            <a:ext cx="2651760" cy="388620"/>
          </a:xfrm>
          <a:prstGeom prst="rect">
            <a:avLst/>
          </a:prstGeom>
          <a:noFill/>
          <a:ln/>
        </p:spPr>
        <p:txBody>
          <a:bodyPr wrap="square" lIns="0" tIns="0" rIns="0" bIns="0" rtlCol="0" anchor="ctr"/>
          <a:lstStyle/>
          <a:p>
            <a:pPr indent="0" marL="0">
              <a:buNone/>
            </a:pPr>
            <a:r>
              <a:rPr lang="en-US" sz="2600" b="1" dirty="0">
                <a:solidFill>
                  <a:srgbClr val="12263A"/>
                </a:solidFill>
                <a:latin typeface="Georgia" pitchFamily="34" charset="0"/>
                <a:ea typeface="Georgia" pitchFamily="34" charset="-122"/>
                <a:cs typeface="Georgia" pitchFamily="34" charset="-120"/>
              </a:rPr>
              <a:t>₹1.43 Cr</a:t>
            </a:r>
            <a:endParaRPr lang="en-US" sz="2600" dirty="0"/>
          </a:p>
        </p:txBody>
      </p:sp>
      <p:sp>
        <p:nvSpPr>
          <p:cNvPr id="11" name="Downside label"/>
          <p:cNvSpPr txBox="1"/>
          <p:nvPr/>
        </p:nvSpPr>
        <p:spPr>
          <a:xfrm>
            <a:off x="5897880" y="2553919"/>
            <a:ext cx="2651760" cy="295351"/>
          </a:xfrm>
          <a:prstGeom prst="rect">
            <a:avLst/>
          </a:prstGeom>
          <a:noFill/>
          <a:ln/>
        </p:spPr>
        <p:txBody>
          <a:bodyPr wrap="square" lIns="0" tIns="0" rIns="0" bIns="0" rtlCol="0" anchor="t"/>
          <a:lstStyle/>
          <a:p>
            <a:pPr indent="0" marL="0">
              <a:buNone/>
            </a:pPr>
            <a:r>
              <a:rPr lang="en-US" sz="1200" dirty="0">
                <a:solidFill>
                  <a:srgbClr val="12263A"/>
                </a:solidFill>
              </a:rPr>
              <a:t>Downside case (P10 NPV)</a:t>
            </a:r>
            <a:endParaRPr lang="en-US" sz="1200" dirty="0"/>
          </a:p>
        </p:txBody>
      </p:sp>
      <p:sp>
        <p:nvSpPr>
          <p:cNvPr id="12" name="Chance card"/>
          <p:cNvSpPr/>
          <p:nvPr/>
        </p:nvSpPr>
        <p:spPr>
          <a:xfrm>
            <a:off x="5760720" y="2971800"/>
            <a:ext cx="2926080" cy="777240"/>
          </a:xfrm>
          <a:prstGeom prst="rect">
            <a:avLst/>
          </a:prstGeom>
          <a:solidFill>
            <a:srgbClr val="EEF2F6"/>
          </a:solidFill>
          <a:ln w="9525">
            <a:solidFill>
              <a:srgbClr val="D5DDE6"/>
            </a:solidFill>
            <a:prstDash val="solid"/>
          </a:ln>
        </p:spPr>
      </p:sp>
      <p:sp>
        <p:nvSpPr>
          <p:cNvPr id="13" name="Chance value"/>
          <p:cNvSpPr txBox="1"/>
          <p:nvPr/>
        </p:nvSpPr>
        <p:spPr>
          <a:xfrm>
            <a:off x="5897880" y="3063240"/>
            <a:ext cx="2651760" cy="388620"/>
          </a:xfrm>
          <a:prstGeom prst="rect">
            <a:avLst/>
          </a:prstGeom>
          <a:noFill/>
          <a:ln/>
        </p:spPr>
        <p:txBody>
          <a:bodyPr wrap="square" lIns="0" tIns="0" rIns="0" bIns="0" rtlCol="0" anchor="ctr"/>
          <a:lstStyle/>
          <a:p>
            <a:pPr indent="0" marL="0">
              <a:buNone/>
            </a:pPr>
            <a:r>
              <a:rPr lang="en-US" sz="2600" b="1" dirty="0">
                <a:solidFill>
                  <a:srgbClr val="067647"/>
                </a:solidFill>
                <a:latin typeface="Georgia" pitchFamily="34" charset="0"/>
                <a:ea typeface="Georgia" pitchFamily="34" charset="-122"/>
                <a:cs typeface="Georgia" pitchFamily="34" charset="-120"/>
              </a:rPr>
              <a:t>96%</a:t>
            </a:r>
            <a:endParaRPr lang="en-US" sz="2600" dirty="0"/>
          </a:p>
        </p:txBody>
      </p:sp>
      <p:sp>
        <p:nvSpPr>
          <p:cNvPr id="14" name="Chance label"/>
          <p:cNvSpPr txBox="1"/>
          <p:nvPr/>
        </p:nvSpPr>
        <p:spPr>
          <a:xfrm>
            <a:off x="5897880" y="3422599"/>
            <a:ext cx="2651760" cy="295351"/>
          </a:xfrm>
          <a:prstGeom prst="rect">
            <a:avLst/>
          </a:prstGeom>
          <a:noFill/>
          <a:ln/>
        </p:spPr>
        <p:txBody>
          <a:bodyPr wrap="square" lIns="0" tIns="0" rIns="0" bIns="0" rtlCol="0" anchor="t"/>
          <a:lstStyle/>
          <a:p>
            <a:pPr indent="0" marL="0">
              <a:buNone/>
            </a:pPr>
            <a:r>
              <a:rPr lang="en-US" sz="1200" dirty="0">
                <a:solidFill>
                  <a:srgbClr val="12263A"/>
                </a:solidFill>
              </a:rPr>
              <a:t>Chance NPV is above zero</a:t>
            </a:r>
            <a:endParaRPr lang="en-US" sz="1200" dirty="0"/>
          </a:p>
        </p:txBody>
      </p:sp>
      <p:sp>
        <p:nvSpPr>
          <p:cNvPr id="15" name="Capex card"/>
          <p:cNvSpPr/>
          <p:nvPr/>
        </p:nvSpPr>
        <p:spPr>
          <a:xfrm>
            <a:off x="5760720" y="3840480"/>
            <a:ext cx="2926080" cy="777240"/>
          </a:xfrm>
          <a:prstGeom prst="rect">
            <a:avLst/>
          </a:prstGeom>
          <a:solidFill>
            <a:srgbClr val="EEF2F6"/>
          </a:solidFill>
          <a:ln w="9525">
            <a:solidFill>
              <a:srgbClr val="D5DDE6"/>
            </a:solidFill>
            <a:prstDash val="solid"/>
          </a:ln>
        </p:spPr>
      </p:sp>
      <p:sp>
        <p:nvSpPr>
          <p:cNvPr id="16" name="Capex value"/>
          <p:cNvSpPr txBox="1"/>
          <p:nvPr/>
        </p:nvSpPr>
        <p:spPr>
          <a:xfrm>
            <a:off x="5897880" y="3931920"/>
            <a:ext cx="2651760" cy="388620"/>
          </a:xfrm>
          <a:prstGeom prst="rect">
            <a:avLst/>
          </a:prstGeom>
          <a:noFill/>
          <a:ln/>
        </p:spPr>
        <p:txBody>
          <a:bodyPr wrap="square" lIns="0" tIns="0" rIns="0" bIns="0" rtlCol="0" anchor="ctr"/>
          <a:lstStyle/>
          <a:p>
            <a:pPr indent="0" marL="0">
              <a:buNone/>
            </a:pPr>
            <a:r>
              <a:rPr lang="en-US" sz="2600" b="1" dirty="0">
                <a:solidFill>
                  <a:srgbClr val="12263A"/>
                </a:solidFill>
                <a:latin typeface="Georgia" pitchFamily="34" charset="0"/>
                <a:ea typeface="Georgia" pitchFamily="34" charset="-122"/>
                <a:cs typeface="Georgia" pitchFamily="34" charset="-120"/>
              </a:rPr>
              <a:t>₹3.55 Cr</a:t>
            </a:r>
            <a:endParaRPr lang="en-US" sz="2600" dirty="0"/>
          </a:p>
        </p:txBody>
      </p:sp>
      <p:sp>
        <p:nvSpPr>
          <p:cNvPr id="17" name="Capex label"/>
          <p:cNvSpPr txBox="1"/>
          <p:nvPr/>
        </p:nvSpPr>
        <p:spPr>
          <a:xfrm>
            <a:off x="5897880" y="4291279"/>
            <a:ext cx="2651760" cy="295351"/>
          </a:xfrm>
          <a:prstGeom prst="rect">
            <a:avLst/>
          </a:prstGeom>
          <a:noFill/>
          <a:ln/>
        </p:spPr>
        <p:txBody>
          <a:bodyPr wrap="square" lIns="0" tIns="0" rIns="0" bIns="0" rtlCol="0" anchor="t"/>
          <a:lstStyle/>
          <a:p>
            <a:pPr indent="0" marL="0">
              <a:buNone/>
            </a:pPr>
            <a:r>
              <a:rPr lang="en-US" sz="1200" dirty="0">
                <a:solidFill>
                  <a:srgbClr val="12263A"/>
                </a:solidFill>
              </a:rPr>
              <a:t>Total capex</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rtlCol="0" anchor="ctr"/>
          <a:lstStyle/>
          <a:p>
            <a:pPr algn="l" indent="0" marL="0">
              <a:buNone/>
            </a:pPr>
            <a:r>
              <a:rPr lang="en-US" sz="2200" b="1" dirty="0">
                <a:solidFill>
                  <a:srgbClr val="12263A"/>
                </a:solidFill>
              </a:rPr>
              <a:t>Business value, and one limitation</a:t>
            </a:r>
            <a:endParaRPr lang="en-US" sz="2200" dirty="0"/>
          </a:p>
        </p:txBody>
      </p:sp>
      <p:sp>
        <p:nvSpPr>
          <p:cNvPr id="4" name="Value heading"/>
          <p:cNvSpPr txBox="1"/>
          <p:nvPr/>
        </p:nvSpPr>
        <p:spPr>
          <a:xfrm>
            <a:off x="457200" y="1280160"/>
            <a:ext cx="3931920" cy="365760"/>
          </a:xfrm>
          <a:prstGeom prst="rect">
            <a:avLst/>
          </a:prstGeom>
          <a:noFill/>
          <a:ln/>
        </p:spPr>
        <p:txBody>
          <a:bodyPr wrap="square" lIns="0" tIns="0" rIns="0" bIns="0" rtlCol="0" anchor="ctr"/>
          <a:lstStyle/>
          <a:p>
            <a:pPr indent="0" marL="0">
              <a:buNone/>
            </a:pPr>
            <a:r>
              <a:rPr lang="en-US" sz="1600" b="1" dirty="0">
                <a:solidFill>
                  <a:srgbClr val="067647"/>
                </a:solidFill>
                <a:latin typeface="Georgia" pitchFamily="34" charset="0"/>
                <a:ea typeface="Georgia" pitchFamily="34" charset="-122"/>
                <a:cs typeface="Georgia" pitchFamily="34" charset="-120"/>
              </a:rPr>
              <a:t>Business value</a:t>
            </a:r>
            <a:endParaRPr lang="en-US" sz="1600" dirty="0"/>
          </a:p>
        </p:txBody>
      </p:sp>
      <p:sp>
        <p:nvSpPr>
          <p:cNvPr id="5" name="Value points"/>
          <p:cNvSpPr txBox="1"/>
          <p:nvPr/>
        </p:nvSpPr>
        <p:spPr>
          <a:xfrm>
            <a:off x="457200" y="1737360"/>
            <a:ext cx="3931920" cy="2377440"/>
          </a:xfrm>
          <a:prstGeom prst="rect">
            <a:avLst/>
          </a:prstGeom>
          <a:noFill/>
          <a:ln/>
        </p:spPr>
        <p:txBody>
          <a:bodyPr wrap="square" rtlCol="0" anchor="t"/>
          <a:lstStyle/>
          <a:p>
            <a:pPr marL="342900" indent="-342900">
              <a:spcAft>
                <a:spcPts val="1000"/>
              </a:spcAft>
              <a:buSzPct val="100000"/>
              <a:buChar char="•"/>
            </a:pPr>
            <a:r>
              <a:rPr lang="en-US" sz="1400" dirty="0">
                <a:solidFill>
                  <a:srgbClr val="12263A"/>
                </a:solidFill>
              </a:rPr>
              <a:t>₹5.0 Cr more expected NPV than the footfall shortcut</a:t>
            </a:r>
            <a:endParaRPr lang="en-US" sz="1400" dirty="0"/>
          </a:p>
          <a:p>
            <a:pPr marL="342900" indent="-342900">
              <a:spcAft>
                <a:spcPts val="1000"/>
              </a:spcAft>
              <a:buSzPct val="100000"/>
              <a:buChar char="•"/>
            </a:pPr>
            <a:r>
              <a:rPr lang="en-US" sz="1400" dirty="0">
                <a:solidFill>
                  <a:srgbClr val="12263A"/>
                </a:solidFill>
              </a:rPr>
              <a:t>One consistent, explainable method management can reuse</a:t>
            </a:r>
            <a:endParaRPr lang="en-US" sz="1400" dirty="0"/>
          </a:p>
          <a:p>
            <a:pPr marL="342900" indent="-342900">
              <a:spcAft>
                <a:spcPts val="1000"/>
              </a:spcAft>
              <a:buSzPct val="100000"/>
              <a:buChar char="•"/>
            </a:pPr>
            <a:r>
              <a:rPr lang="en-US" sz="1400" dirty="0">
                <a:solidFill>
                  <a:srgbClr val="12263A"/>
                </a:solidFill>
              </a:rPr>
              <a:t>Risk shown up front: downside case and chance of loss</a:t>
            </a:r>
            <a:endParaRPr lang="en-US" sz="1400" dirty="0"/>
          </a:p>
          <a:p>
            <a:pPr marL="342900" indent="-342900">
              <a:spcAft>
                <a:spcPts val="1000"/>
              </a:spcAft>
              <a:buSzPct val="100000"/>
              <a:buChar char="•"/>
            </a:pPr>
            <a:r>
              <a:rPr lang="en-US" sz="1400" dirty="0">
                <a:solidFill>
                  <a:srgbClr val="12263A"/>
                </a:solidFill>
              </a:rPr>
              <a:t>Gated rollout caps the cost of being wrong</a:t>
            </a:r>
            <a:endParaRPr lang="en-US" sz="1400" dirty="0"/>
          </a:p>
        </p:txBody>
      </p:sp>
      <p:sp>
        <p:nvSpPr>
          <p:cNvPr id="6" name="Limitation card"/>
          <p:cNvSpPr/>
          <p:nvPr/>
        </p:nvSpPr>
        <p:spPr>
          <a:xfrm>
            <a:off x="4754880" y="1280160"/>
            <a:ext cx="3931920" cy="2834640"/>
          </a:xfrm>
          <a:prstGeom prst="rect">
            <a:avLst/>
          </a:prstGeom>
          <a:solidFill>
            <a:srgbClr val="EEF2F6"/>
          </a:solidFill>
          <a:ln w="19050">
            <a:solidFill>
              <a:srgbClr val="D92D20"/>
            </a:solidFill>
            <a:prstDash val="solid"/>
          </a:ln>
        </p:spPr>
      </p:sp>
      <p:sp>
        <p:nvSpPr>
          <p:cNvPr id="7" name="Limitation heading"/>
          <p:cNvSpPr txBox="1"/>
          <p:nvPr/>
        </p:nvSpPr>
        <p:spPr>
          <a:xfrm>
            <a:off x="4937760" y="1371600"/>
            <a:ext cx="3566160" cy="365760"/>
          </a:xfrm>
          <a:prstGeom prst="rect">
            <a:avLst/>
          </a:prstGeom>
          <a:noFill/>
          <a:ln/>
        </p:spPr>
        <p:txBody>
          <a:bodyPr wrap="square" lIns="0" tIns="0" rIns="0" bIns="0" rtlCol="0" anchor="ctr"/>
          <a:lstStyle/>
          <a:p>
            <a:pPr indent="0" marL="0">
              <a:buNone/>
            </a:pPr>
            <a:r>
              <a:rPr lang="en-US" sz="1600" b="1" dirty="0">
                <a:solidFill>
                  <a:srgbClr val="D92D20"/>
                </a:solidFill>
                <a:latin typeface="Georgia" pitchFamily="34" charset="0"/>
                <a:ea typeface="Georgia" pitchFamily="34" charset="-122"/>
                <a:cs typeface="Georgia" pitchFamily="34" charset="-120"/>
              </a:rPr>
              <a:t>Key limitation</a:t>
            </a:r>
            <a:endParaRPr lang="en-US" sz="1600" dirty="0"/>
          </a:p>
        </p:txBody>
      </p:sp>
      <p:sp>
        <p:nvSpPr>
          <p:cNvPr id="8" name="Limitation text"/>
          <p:cNvSpPr txBox="1"/>
          <p:nvPr/>
        </p:nvSpPr>
        <p:spPr>
          <a:xfrm>
            <a:off x="4937760" y="1828800"/>
            <a:ext cx="3566160" cy="2194560"/>
          </a:xfrm>
          <a:prstGeom prst="rect">
            <a:avLst/>
          </a:prstGeom>
          <a:noFill/>
          <a:ln/>
        </p:spPr>
        <p:txBody>
          <a:bodyPr wrap="square" lIns="0" tIns="0" rIns="0" bIns="0" rtlCol="0" anchor="t"/>
          <a:lstStyle/>
          <a:p>
            <a:pPr indent="0" marL="0">
              <a:buNone/>
            </a:pPr>
            <a:r>
              <a:rPr lang="en-US" sz="1400" dirty="0">
                <a:solidFill>
                  <a:srgbClr val="12263A"/>
                </a:solidFill>
              </a:rPr>
              <a:t>The data is synthetic and the revenue model is calibrated on only six existing stores. The site ranking is the reliable output; the rupee values are indicative until recalibrated on real data.</a:t>
            </a:r>
            <a:endParaRPr lang="en-US" sz="1400" dirty="0"/>
          </a:p>
          <a:p>
            <a:pPr indent="0" marL="0">
              <a:buNone/>
            </a:pPr>
            <a:endParaRPr lang="en-US" sz="1400" dirty="0"/>
          </a:p>
          <a:p>
            <a:pPr indent="0" marL="0">
              <a:buNone/>
            </a:pPr>
            <a:r>
              <a:rPr lang="en-US" sz="1400" dirty="0">
                <a:solidFill>
                  <a:srgbClr val="12263A"/>
                </a:solidFill>
              </a:rPr>
              <a:t>Next: recalibrate on the client's footfall, rent and store P&amp;Ls, then pilot the first stores.</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rtlCol="0" anchor="ctr"/>
          <a:lstStyle/>
          <a:p>
            <a:pPr algn="l" indent="0" marL="0">
              <a:buNone/>
            </a:pPr>
            <a:r>
              <a:rPr lang="en-US" sz="2200" b="1" dirty="0">
                <a:solidFill>
                  <a:srgbClr val="12263A"/>
                </a:solidFill>
              </a:rPr>
              <a:t>Modules and techno-functional design</a:t>
            </a:r>
            <a:endParaRPr lang="en-US" sz="2200" dirty="0"/>
          </a:p>
        </p:txBody>
      </p:sp>
      <p:sp>
        <p:nvSpPr>
          <p:cNvPr id="4" name="Module 1"/>
          <p:cNvSpPr/>
          <p:nvPr/>
        </p:nvSpPr>
        <p:spPr>
          <a:xfrm>
            <a:off x="457200" y="1325880"/>
            <a:ext cx="1280160" cy="1737360"/>
          </a:xfrm>
          <a:prstGeom prst="rect">
            <a:avLst/>
          </a:prstGeom>
          <a:solidFill>
            <a:srgbClr val="EEF2F6"/>
          </a:solidFill>
          <a:ln w="9525">
            <a:solidFill>
              <a:srgbClr val="D5DDE6"/>
            </a:solidFill>
            <a:prstDash val="solid"/>
          </a:ln>
        </p:spPr>
      </p:sp>
      <p:sp>
        <p:nvSpPr>
          <p:cNvPr id="5" name="Module title 1"/>
          <p:cNvSpPr txBox="1"/>
          <p:nvPr/>
        </p:nvSpPr>
        <p:spPr>
          <a:xfrm>
            <a:off x="530352" y="1371600"/>
            <a:ext cx="1133856" cy="502920"/>
          </a:xfrm>
          <a:prstGeom prst="rect">
            <a:avLst/>
          </a:prstGeom>
          <a:noFill/>
          <a:ln/>
        </p:spPr>
        <p:txBody>
          <a:bodyPr wrap="square" lIns="0" tIns="0" rIns="0" bIns="0" rtlCol="0" anchor="t"/>
          <a:lstStyle/>
          <a:p>
            <a:pPr indent="0" marL="0">
              <a:buNone/>
            </a:pPr>
            <a:r>
              <a:rPr lang="en-US" sz="1200" b="1" dirty="0">
                <a:solidFill>
                  <a:srgbClr val="12263A"/>
                </a:solidFill>
                <a:latin typeface="Georgia" pitchFamily="34" charset="0"/>
                <a:ea typeface="Georgia" pitchFamily="34" charset="-122"/>
                <a:cs typeface="Georgia" pitchFamily="34" charset="-120"/>
              </a:rPr>
              <a:t>1 Data</a:t>
            </a:r>
            <a:endParaRPr lang="en-US" sz="1200" dirty="0"/>
          </a:p>
        </p:txBody>
      </p:sp>
      <p:sp>
        <p:nvSpPr>
          <p:cNvPr id="6" name="Module text 1"/>
          <p:cNvSpPr txBox="1"/>
          <p:nvPr/>
        </p:nvSpPr>
        <p:spPr>
          <a:xfrm>
            <a:off x="530352" y="1920240"/>
            <a:ext cx="1133856" cy="1097280"/>
          </a:xfrm>
          <a:prstGeom prst="rect">
            <a:avLst/>
          </a:prstGeom>
          <a:noFill/>
          <a:ln/>
        </p:spPr>
        <p:txBody>
          <a:bodyPr wrap="square" lIns="0" tIns="0" rIns="0" bIns="0" rtlCol="0" anchor="t"/>
          <a:lstStyle/>
          <a:p>
            <a:pPr indent="0" marL="0">
              <a:buNone/>
            </a:pPr>
            <a:r>
              <a:rPr lang="en-US" sz="1100" dirty="0">
                <a:solidFill>
                  <a:srgbClr val="12263A"/>
                </a:solidFill>
              </a:rPr>
              <a:t>Sites, stores, footfall, rent, competitors</a:t>
            </a:r>
            <a:endParaRPr lang="en-US" sz="1100" dirty="0"/>
          </a:p>
        </p:txBody>
      </p:sp>
      <p:sp>
        <p:nvSpPr>
          <p:cNvPr id="7" name="Module 2"/>
          <p:cNvSpPr/>
          <p:nvPr/>
        </p:nvSpPr>
        <p:spPr>
          <a:xfrm>
            <a:off x="1847088" y="1325880"/>
            <a:ext cx="1280160" cy="1737360"/>
          </a:xfrm>
          <a:prstGeom prst="rect">
            <a:avLst/>
          </a:prstGeom>
          <a:solidFill>
            <a:srgbClr val="EEF2F6"/>
          </a:solidFill>
          <a:ln w="9525">
            <a:solidFill>
              <a:srgbClr val="D5DDE6"/>
            </a:solidFill>
            <a:prstDash val="solid"/>
          </a:ln>
        </p:spPr>
      </p:sp>
      <p:sp>
        <p:nvSpPr>
          <p:cNvPr id="8" name="Module title 2"/>
          <p:cNvSpPr txBox="1"/>
          <p:nvPr/>
        </p:nvSpPr>
        <p:spPr>
          <a:xfrm>
            <a:off x="1920240" y="1371600"/>
            <a:ext cx="1133856" cy="502920"/>
          </a:xfrm>
          <a:prstGeom prst="rect">
            <a:avLst/>
          </a:prstGeom>
          <a:noFill/>
          <a:ln/>
        </p:spPr>
        <p:txBody>
          <a:bodyPr wrap="square" lIns="0" tIns="0" rIns="0" bIns="0" rtlCol="0" anchor="t"/>
          <a:lstStyle/>
          <a:p>
            <a:pPr indent="0" marL="0">
              <a:buNone/>
            </a:pPr>
            <a:r>
              <a:rPr lang="en-US" sz="1200" b="1" dirty="0">
                <a:solidFill>
                  <a:srgbClr val="12263A"/>
                </a:solidFill>
                <a:latin typeface="Georgia" pitchFamily="34" charset="0"/>
                <a:ea typeface="Georgia" pitchFamily="34" charset="-122"/>
                <a:cs typeface="Georgia" pitchFamily="34" charset="-120"/>
              </a:rPr>
              <a:t>2 Revenue</a:t>
            </a:r>
            <a:endParaRPr lang="en-US" sz="1200" dirty="0"/>
          </a:p>
        </p:txBody>
      </p:sp>
      <p:sp>
        <p:nvSpPr>
          <p:cNvPr id="9" name="Module text 2"/>
          <p:cNvSpPr txBox="1"/>
          <p:nvPr/>
        </p:nvSpPr>
        <p:spPr>
          <a:xfrm>
            <a:off x="1920240" y="1920240"/>
            <a:ext cx="1133856" cy="1097280"/>
          </a:xfrm>
          <a:prstGeom prst="rect">
            <a:avLst/>
          </a:prstGeom>
          <a:noFill/>
          <a:ln/>
        </p:spPr>
        <p:txBody>
          <a:bodyPr wrap="square" lIns="0" tIns="0" rIns="0" bIns="0" rtlCol="0" anchor="t"/>
          <a:lstStyle/>
          <a:p>
            <a:pPr indent="0" marL="0">
              <a:buNone/>
            </a:pPr>
            <a:r>
              <a:rPr lang="en-US" sz="1100" dirty="0">
                <a:solidFill>
                  <a:srgbClr val="12263A"/>
                </a:solidFill>
              </a:rPr>
              <a:t>Calibrated on existing store performance</a:t>
            </a:r>
            <a:endParaRPr lang="en-US" sz="1100" dirty="0"/>
          </a:p>
        </p:txBody>
      </p:sp>
      <p:sp>
        <p:nvSpPr>
          <p:cNvPr id="10" name="Module 3"/>
          <p:cNvSpPr/>
          <p:nvPr/>
        </p:nvSpPr>
        <p:spPr>
          <a:xfrm>
            <a:off x="3236976" y="1325880"/>
            <a:ext cx="1280160" cy="1737360"/>
          </a:xfrm>
          <a:prstGeom prst="rect">
            <a:avLst/>
          </a:prstGeom>
          <a:solidFill>
            <a:srgbClr val="EEF2F6"/>
          </a:solidFill>
          <a:ln w="9525">
            <a:solidFill>
              <a:srgbClr val="D5DDE6"/>
            </a:solidFill>
            <a:prstDash val="solid"/>
          </a:ln>
        </p:spPr>
      </p:sp>
      <p:sp>
        <p:nvSpPr>
          <p:cNvPr id="11" name="Module title 3"/>
          <p:cNvSpPr txBox="1"/>
          <p:nvPr/>
        </p:nvSpPr>
        <p:spPr>
          <a:xfrm>
            <a:off x="3310128" y="1371600"/>
            <a:ext cx="1133856" cy="502920"/>
          </a:xfrm>
          <a:prstGeom prst="rect">
            <a:avLst/>
          </a:prstGeom>
          <a:noFill/>
          <a:ln/>
        </p:spPr>
        <p:txBody>
          <a:bodyPr wrap="square" lIns="0" tIns="0" rIns="0" bIns="0" rtlCol="0" anchor="t"/>
          <a:lstStyle/>
          <a:p>
            <a:pPr indent="0" marL="0">
              <a:buNone/>
            </a:pPr>
            <a:r>
              <a:rPr lang="en-US" sz="1200" b="1" dirty="0">
                <a:solidFill>
                  <a:srgbClr val="12263A"/>
                </a:solidFill>
                <a:latin typeface="Georgia" pitchFamily="34" charset="0"/>
                <a:ea typeface="Georgia" pitchFamily="34" charset="-122"/>
                <a:cs typeface="Georgia" pitchFamily="34" charset="-120"/>
              </a:rPr>
              <a:t>3 Overlap</a:t>
            </a:r>
            <a:endParaRPr lang="en-US" sz="1200" dirty="0"/>
          </a:p>
        </p:txBody>
      </p:sp>
      <p:sp>
        <p:nvSpPr>
          <p:cNvPr id="12" name="Module text 3"/>
          <p:cNvSpPr txBox="1"/>
          <p:nvPr/>
        </p:nvSpPr>
        <p:spPr>
          <a:xfrm>
            <a:off x="3310128" y="1920240"/>
            <a:ext cx="1133856" cy="1097280"/>
          </a:xfrm>
          <a:prstGeom prst="rect">
            <a:avLst/>
          </a:prstGeom>
          <a:noFill/>
          <a:ln/>
        </p:spPr>
        <p:txBody>
          <a:bodyPr wrap="square" lIns="0" tIns="0" rIns="0" bIns="0" rtlCol="0" anchor="t"/>
          <a:lstStyle/>
          <a:p>
            <a:pPr indent="0" marL="0">
              <a:buNone/>
            </a:pPr>
            <a:r>
              <a:rPr lang="en-US" sz="1100" dirty="0">
                <a:solidFill>
                  <a:srgbClr val="12263A"/>
                </a:solidFill>
              </a:rPr>
              <a:t>Sales taken from nearby stores, by distance</a:t>
            </a:r>
            <a:endParaRPr lang="en-US" sz="1100" dirty="0"/>
          </a:p>
        </p:txBody>
      </p:sp>
      <p:sp>
        <p:nvSpPr>
          <p:cNvPr id="13" name="Module 4"/>
          <p:cNvSpPr/>
          <p:nvPr/>
        </p:nvSpPr>
        <p:spPr>
          <a:xfrm>
            <a:off x="4626864" y="1325880"/>
            <a:ext cx="1280160" cy="1737360"/>
          </a:xfrm>
          <a:prstGeom prst="rect">
            <a:avLst/>
          </a:prstGeom>
          <a:solidFill>
            <a:srgbClr val="EEF2F6"/>
          </a:solidFill>
          <a:ln w="9525">
            <a:solidFill>
              <a:srgbClr val="D5DDE6"/>
            </a:solidFill>
            <a:prstDash val="solid"/>
          </a:ln>
        </p:spPr>
      </p:sp>
      <p:sp>
        <p:nvSpPr>
          <p:cNvPr id="14" name="Module title 4"/>
          <p:cNvSpPr txBox="1"/>
          <p:nvPr/>
        </p:nvSpPr>
        <p:spPr>
          <a:xfrm>
            <a:off x="4700016" y="1371600"/>
            <a:ext cx="1133856" cy="502920"/>
          </a:xfrm>
          <a:prstGeom prst="rect">
            <a:avLst/>
          </a:prstGeom>
          <a:noFill/>
          <a:ln/>
        </p:spPr>
        <p:txBody>
          <a:bodyPr wrap="square" lIns="0" tIns="0" rIns="0" bIns="0" rtlCol="0" anchor="t"/>
          <a:lstStyle/>
          <a:p>
            <a:pPr indent="0" marL="0">
              <a:buNone/>
            </a:pPr>
            <a:r>
              <a:rPr lang="en-US" sz="1200" b="1" dirty="0">
                <a:solidFill>
                  <a:srgbClr val="12263A"/>
                </a:solidFill>
                <a:latin typeface="Georgia" pitchFamily="34" charset="0"/>
                <a:ea typeface="Georgia" pitchFamily="34" charset="-122"/>
                <a:cs typeface="Georgia" pitchFamily="34" charset="-120"/>
              </a:rPr>
              <a:t>4 Value and risk</a:t>
            </a:r>
            <a:endParaRPr lang="en-US" sz="1200" dirty="0"/>
          </a:p>
        </p:txBody>
      </p:sp>
      <p:sp>
        <p:nvSpPr>
          <p:cNvPr id="15" name="Module text 4"/>
          <p:cNvSpPr txBox="1"/>
          <p:nvPr/>
        </p:nvSpPr>
        <p:spPr>
          <a:xfrm>
            <a:off x="4700016" y="1920240"/>
            <a:ext cx="1133856" cy="1097280"/>
          </a:xfrm>
          <a:prstGeom prst="rect">
            <a:avLst/>
          </a:prstGeom>
          <a:noFill/>
          <a:ln/>
        </p:spPr>
        <p:txBody>
          <a:bodyPr wrap="square" lIns="0" tIns="0" rIns="0" bIns="0" rtlCol="0" anchor="t"/>
          <a:lstStyle/>
          <a:p>
            <a:pPr indent="0" marL="0">
              <a:buNone/>
            </a:pPr>
            <a:r>
              <a:rPr lang="en-US" sz="1100" dirty="0">
                <a:solidFill>
                  <a:srgbClr val="12263A"/>
                </a:solidFill>
              </a:rPr>
              <a:t>7-year NPV, 3,000 simulations</a:t>
            </a:r>
            <a:endParaRPr lang="en-US" sz="1100" dirty="0"/>
          </a:p>
        </p:txBody>
      </p:sp>
      <p:sp>
        <p:nvSpPr>
          <p:cNvPr id="16" name="Module 5"/>
          <p:cNvSpPr/>
          <p:nvPr/>
        </p:nvSpPr>
        <p:spPr>
          <a:xfrm>
            <a:off x="6016752" y="1325880"/>
            <a:ext cx="1280160" cy="1737360"/>
          </a:xfrm>
          <a:prstGeom prst="rect">
            <a:avLst/>
          </a:prstGeom>
          <a:solidFill>
            <a:srgbClr val="EEF2F6"/>
          </a:solidFill>
          <a:ln w="9525">
            <a:solidFill>
              <a:srgbClr val="D5DDE6"/>
            </a:solidFill>
            <a:prstDash val="solid"/>
          </a:ln>
        </p:spPr>
      </p:sp>
      <p:sp>
        <p:nvSpPr>
          <p:cNvPr id="17" name="Module title 5"/>
          <p:cNvSpPr txBox="1"/>
          <p:nvPr/>
        </p:nvSpPr>
        <p:spPr>
          <a:xfrm>
            <a:off x="6089904" y="1371600"/>
            <a:ext cx="1133856" cy="502920"/>
          </a:xfrm>
          <a:prstGeom prst="rect">
            <a:avLst/>
          </a:prstGeom>
          <a:noFill/>
          <a:ln/>
        </p:spPr>
        <p:txBody>
          <a:bodyPr wrap="square" lIns="0" tIns="0" rIns="0" bIns="0" rtlCol="0" anchor="t"/>
          <a:lstStyle/>
          <a:p>
            <a:pPr indent="0" marL="0">
              <a:buNone/>
            </a:pPr>
            <a:r>
              <a:rPr lang="en-US" sz="1200" b="1" dirty="0">
                <a:solidFill>
                  <a:srgbClr val="12263A"/>
                </a:solidFill>
                <a:latin typeface="Georgia" pitchFamily="34" charset="0"/>
                <a:ea typeface="Georgia" pitchFamily="34" charset="-122"/>
                <a:cs typeface="Georgia" pitchFamily="34" charset="-120"/>
              </a:rPr>
              <a:t>5 Portfolio</a:t>
            </a:r>
            <a:endParaRPr lang="en-US" sz="1200" dirty="0"/>
          </a:p>
        </p:txBody>
      </p:sp>
      <p:sp>
        <p:nvSpPr>
          <p:cNvPr id="18" name="Module text 5"/>
          <p:cNvSpPr txBox="1"/>
          <p:nvPr/>
        </p:nvSpPr>
        <p:spPr>
          <a:xfrm>
            <a:off x="6089904" y="1920240"/>
            <a:ext cx="1133856" cy="1097280"/>
          </a:xfrm>
          <a:prstGeom prst="rect">
            <a:avLst/>
          </a:prstGeom>
          <a:noFill/>
          <a:ln/>
        </p:spPr>
        <p:txBody>
          <a:bodyPr wrap="square" lIns="0" tIns="0" rIns="0" bIns="0" rtlCol="0" anchor="t"/>
          <a:lstStyle/>
          <a:p>
            <a:pPr indent="0" marL="0">
              <a:buNone/>
            </a:pPr>
            <a:r>
              <a:rPr lang="en-US" sz="1100" dirty="0">
                <a:solidFill>
                  <a:srgbClr val="12263A"/>
                </a:solidFill>
              </a:rPr>
              <a:t>Best set within budget and risk gate</a:t>
            </a:r>
            <a:endParaRPr lang="en-US" sz="1100" dirty="0"/>
          </a:p>
        </p:txBody>
      </p:sp>
      <p:sp>
        <p:nvSpPr>
          <p:cNvPr id="19" name="Module 6"/>
          <p:cNvSpPr/>
          <p:nvPr/>
        </p:nvSpPr>
        <p:spPr>
          <a:xfrm>
            <a:off x="7406640" y="1325880"/>
            <a:ext cx="1280160" cy="1737360"/>
          </a:xfrm>
          <a:prstGeom prst="rect">
            <a:avLst/>
          </a:prstGeom>
          <a:solidFill>
            <a:srgbClr val="2347D9"/>
          </a:solidFill>
          <a:ln w="9525">
            <a:solidFill>
              <a:srgbClr val="D5DDE6"/>
            </a:solidFill>
            <a:prstDash val="solid"/>
          </a:ln>
        </p:spPr>
      </p:sp>
      <p:sp>
        <p:nvSpPr>
          <p:cNvPr id="20" name="Module title 6"/>
          <p:cNvSpPr txBox="1"/>
          <p:nvPr/>
        </p:nvSpPr>
        <p:spPr>
          <a:xfrm>
            <a:off x="7479792" y="1371600"/>
            <a:ext cx="1133856" cy="502920"/>
          </a:xfrm>
          <a:prstGeom prst="rect">
            <a:avLst/>
          </a:prstGeom>
          <a:noFill/>
          <a:ln/>
        </p:spPr>
        <p:txBody>
          <a:bodyPr wrap="square" lIns="0" tIns="0" rIns="0" bIns="0" rtlCol="0" anchor="t"/>
          <a:lstStyle/>
          <a:p>
            <a:pPr indent="0" marL="0">
              <a:buNone/>
            </a:pPr>
            <a:r>
              <a:rPr lang="en-US" sz="1200" b="1" dirty="0">
                <a:solidFill>
                  <a:srgbClr val="FFFFFF"/>
                </a:solidFill>
                <a:latin typeface="Georgia" pitchFamily="34" charset="0"/>
                <a:ea typeface="Georgia" pitchFamily="34" charset="-122"/>
                <a:cs typeface="Georgia" pitchFamily="34" charset="-120"/>
              </a:rPr>
              <a:t>6 Decision UI</a:t>
            </a:r>
            <a:endParaRPr lang="en-US" sz="1200" dirty="0"/>
          </a:p>
        </p:txBody>
      </p:sp>
      <p:sp>
        <p:nvSpPr>
          <p:cNvPr id="21" name="Module text 6"/>
          <p:cNvSpPr txBox="1"/>
          <p:nvPr/>
        </p:nvSpPr>
        <p:spPr>
          <a:xfrm>
            <a:off x="7479792" y="1920240"/>
            <a:ext cx="1133856" cy="1097280"/>
          </a:xfrm>
          <a:prstGeom prst="rect">
            <a:avLst/>
          </a:prstGeom>
          <a:noFill/>
          <a:ln/>
        </p:spPr>
        <p:txBody>
          <a:bodyPr wrap="square" lIns="0" tIns="0" rIns="0" bIns="0" rtlCol="0" anchor="t"/>
          <a:lstStyle/>
          <a:p>
            <a:pPr indent="0" marL="0">
              <a:buNone/>
            </a:pPr>
            <a:r>
              <a:rPr lang="en-US" sz="1100" dirty="0">
                <a:solidFill>
                  <a:srgbClr val="FFFFFF"/>
                </a:solidFill>
              </a:rPr>
              <a:t>Priorities, map, stress tests, memo</a:t>
            </a:r>
            <a:endParaRPr lang="en-US" sz="1100" dirty="0"/>
          </a:p>
        </p:txBody>
      </p:sp>
      <p:sp>
        <p:nvSpPr>
          <p:cNvPr id="22" name="Design notes"/>
          <p:cNvSpPr txBox="1"/>
          <p:nvPr/>
        </p:nvSpPr>
        <p:spPr>
          <a:xfrm>
            <a:off x="457200" y="3246120"/>
            <a:ext cx="8229600" cy="1463040"/>
          </a:xfrm>
          <a:prstGeom prst="rect">
            <a:avLst/>
          </a:prstGeom>
          <a:noFill/>
          <a:ln/>
        </p:spPr>
        <p:txBody>
          <a:bodyPr wrap="square" lIns="0" tIns="0" rIns="0" bIns="0" rtlCol="0" anchor="t"/>
          <a:lstStyle/>
          <a:p>
            <a:pPr indent="0" marL="0">
              <a:buNone/>
            </a:pPr>
            <a:r>
              <a:rPr lang="en-US" sz="1300" b="1" dirty="0">
                <a:solidFill>
                  <a:srgbClr val="12263A"/>
                </a:solidFill>
              </a:rPr>
              <a:t>Techno-functional design: </a:t>
            </a:r>
            <a:pPr indent="0" marL="0">
              <a:buNone/>
            </a:pPr>
            <a:r>
              <a:rPr lang="en-US" sz="1300" dirty="0">
                <a:solidFill>
                  <a:srgbClr val="12263A"/>
                </a:solidFill>
              </a:rPr>
              <a:t>client Excel/CSV data → Python model (calibration, simulation, optimiser) → Streamlit decision app. Next: live footfall and loyalty feeds, and a GenAI layer that explains each ranking in plain language and summarises site-visit notes.</a:t>
            </a:r>
            <a:endParaRPr lang="en-US" sz="1300" dirty="0"/>
          </a:p>
          <a:p>
            <a:pPr indent="0" marL="0">
              <a:buNone/>
            </a:pPr>
            <a:r>
              <a:rPr lang="en-US" sz="800" dirty="0">
                <a:solidFill>
                  <a:srgbClr val="12263A"/>
                </a:solidFill>
              </a:rPr>
              <a:t> </a:t>
            </a:r>
            <a:endParaRPr lang="en-US" sz="1300" dirty="0"/>
          </a:p>
          <a:p>
            <a:pPr indent="0" marL="0">
              <a:buNone/>
            </a:pPr>
            <a:r>
              <a:rPr lang="en-US" sz="1300" b="1" dirty="0">
                <a:solidFill>
                  <a:srgbClr val="12263A"/>
                </a:solidFill>
              </a:rPr>
              <a:t>Requirement-gathering session: </a:t>
            </a:r>
            <a:pPr indent="0" marL="0">
              <a:buNone/>
            </a:pPr>
            <a:r>
              <a:rPr lang="en-US" sz="1300" dirty="0">
                <a:solidFill>
                  <a:srgbClr val="12263A"/>
                </a:solidFill>
              </a:rPr>
              <a:t>store P&amp;Ls, footfall counts, broker rent comps, loyalty data, lease terms, expansion budget and risk appetite.</a:t>
            </a:r>
            <a:endParaRPr lang="en-US" sz="13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rtlCol="0" anchor="ctr"/>
          <a:lstStyle/>
          <a:p>
            <a:pPr algn="l" indent="0" marL="0">
              <a:buNone/>
            </a:pPr>
            <a:r>
              <a:rPr lang="en-US" sz="2200" b="1" dirty="0">
                <a:solidFill>
                  <a:srgbClr val="12263A"/>
                </a:solidFill>
              </a:rPr>
              <a:t>The same three sites win in every stress test</a:t>
            </a:r>
            <a:endParaRPr lang="en-US" sz="2200" dirty="0"/>
          </a:p>
        </p:txBody>
      </p:sp>
      <p:graphicFrame>
        <p:nvGraphicFramePr>
          <p:cNvPr id="7" name="Stress test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03120"/>
                <a:gridCol w="3840480"/>
                <a:gridCol w="1188720"/>
                <a:gridCol w="1097280"/>
              </a:tblGrid>
              <a:tr h="0">
                <a:tc>
                  <a:txBody>
                    <a:bodyPr/>
                    <a:lstStyle/>
                    <a:p>
                      <a:pPr indent="0" marL="0">
                        <a:buNone/>
                      </a:pPr>
                      <a:r>
                        <a:rPr lang="en-US" sz="1200" b="1" dirty="0">
                          <a:solidFill>
                            <a:srgbClr val="FFFFFF"/>
                          </a:solidFill>
                        </a:rPr>
                        <a:t>Scenario</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rPr>
                        <a:t>Best portfolio</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rPr>
                        <a:t>Exp. NPV (₹ Cr)</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rPr>
                        <a:t>P(NPV&gt;0)</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1F3A5F"/>
                    </a:solidFill>
                  </a:tcPr>
                </a:tc>
              </a:tr>
              <a:tr h="0">
                <a:tc>
                  <a:txBody>
                    <a:bodyPr/>
                    <a:lstStyle/>
                    <a:p>
                      <a:pPr indent="0" marL="0">
                        <a:buNone/>
                      </a:pPr>
                      <a:r>
                        <a:rPr lang="en-US" sz="1200" dirty="0">
                          <a:solidFill>
                            <a:srgbClr val="12263A"/>
                          </a:solidFill>
                        </a:rPr>
                        <a:t>Base case</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Borivali West, Mulund West, Ghatkopar East</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5.83</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96%</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200" dirty="0">
                          <a:solidFill>
                            <a:srgbClr val="12263A"/>
                          </a:solidFill>
                        </a:rPr>
                        <a:t>Rent +20%</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Borivali West, Mulund West, Ghatkopar East</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4.11</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88%</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200" dirty="0">
                          <a:solidFill>
                            <a:srgbClr val="12263A"/>
                          </a:solidFill>
                        </a:rPr>
                        <a:t>Gross margin -4 pts</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Borivali West, Mulund West, Ghatkopar East</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3.16</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83%</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200" dirty="0">
                          <a:solidFill>
                            <a:srgbClr val="12263A"/>
                          </a:solidFill>
                        </a:rPr>
                        <a:t>Demand -15%</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Borivali West, Mulund West, Ghatkopar East</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1.83</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70%</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200" dirty="0">
                          <a:solidFill>
                            <a:srgbClr val="12263A"/>
                          </a:solidFill>
                        </a:rPr>
                        <a:t>Cannibalisation cap 50%</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Borivali West, Mulund West, Ghatkopar East</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3.89</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89%</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200" dirty="0">
                          <a:solidFill>
                            <a:srgbClr val="12263A"/>
                          </a:solidFill>
                        </a:rPr>
                        <a:t>Discount rate +4 pts</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Borivali West, Mulund West, Ghatkopar East</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4.68</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200" dirty="0">
                          <a:solidFill>
                            <a:srgbClr val="12263A"/>
                          </a:solidFill>
                        </a:rPr>
                        <a:t>94%</a:t>
                      </a:r>
                      <a:endParaRPr lang="en-US" sz="1200" dirty="0"/>
                    </a:p>
                  </a:txBody>
                  <a:tcPr marL="76200" marR="76200" marT="50800" marB="508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bl>
          </a:graphicData>
        </a:graphic>
      </p:graphicFrame>
      <p:sp>
        <p:nvSpPr>
          <p:cNvPr id="5" name="Rollout note"/>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300" b="1" dirty="0">
                <a:solidFill>
                  <a:srgbClr val="2347D9"/>
                </a:solidFill>
              </a:rPr>
              <a:t>Rollout: open the strongest sites first and release the rest only if months 1-6 reach 85% of forecast revenue per sq ft and nearest-store sales fall no more than modelled.</a:t>
            </a:r>
            <a:endParaRPr lang="en-US" sz="13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rtlCol="0" anchor="ctr"/>
          <a:lstStyle/>
          <a:p>
            <a:pPr algn="l" indent="0" marL="0">
              <a:buNone/>
            </a:pPr>
            <a:r>
              <a:rPr lang="en-US" sz="2200" b="1" dirty="0">
                <a:solidFill>
                  <a:srgbClr val="12263A"/>
                </a:solidFill>
              </a:rPr>
              <a:t>Delivery plan: 6 weeks to a pilot decision</a:t>
            </a:r>
            <a:endParaRPr lang="en-US" sz="2200" dirty="0"/>
          </a:p>
        </p:txBody>
      </p:sp>
      <p:sp>
        <p:nvSpPr>
          <p:cNvPr id="4" name="Phase 1"/>
          <p:cNvSpPr/>
          <p:nvPr/>
        </p:nvSpPr>
        <p:spPr>
          <a:xfrm>
            <a:off x="457200" y="1325880"/>
            <a:ext cx="1920240" cy="1737360"/>
          </a:xfrm>
          <a:prstGeom prst="rect">
            <a:avLst/>
          </a:prstGeom>
          <a:solidFill>
            <a:srgbClr val="EEF2F6"/>
          </a:solidFill>
          <a:ln w="9525">
            <a:solidFill>
              <a:srgbClr val="D5DDE6"/>
            </a:solidFill>
            <a:prstDash val="solid"/>
          </a:ln>
        </p:spPr>
      </p:sp>
      <p:sp>
        <p:nvSpPr>
          <p:cNvPr id="5" name="Phase title 1"/>
          <p:cNvSpPr txBox="1"/>
          <p:nvPr/>
        </p:nvSpPr>
        <p:spPr>
          <a:xfrm>
            <a:off x="566928" y="1389888"/>
            <a:ext cx="1700784" cy="457200"/>
          </a:xfrm>
          <a:prstGeom prst="rect">
            <a:avLst/>
          </a:prstGeom>
          <a:noFill/>
          <a:ln/>
        </p:spPr>
        <p:txBody>
          <a:bodyPr wrap="square" lIns="0" tIns="0" rIns="0" bIns="0" rtlCol="0" anchor="t"/>
          <a:lstStyle/>
          <a:p>
            <a:pPr indent="0" marL="0">
              <a:buNone/>
            </a:pPr>
            <a:r>
              <a:rPr lang="en-US" sz="1400" b="1" dirty="0">
                <a:solidFill>
                  <a:srgbClr val="12263A"/>
                </a:solidFill>
                <a:latin typeface="Georgia" pitchFamily="34" charset="0"/>
                <a:ea typeface="Georgia" pitchFamily="34" charset="-122"/>
                <a:cs typeface="Georgia" pitchFamily="34" charset="-120"/>
              </a:rPr>
              <a:t>Weeks 1-2  Discover</a:t>
            </a:r>
            <a:endParaRPr lang="en-US" sz="1400" dirty="0"/>
          </a:p>
        </p:txBody>
      </p:sp>
      <p:sp>
        <p:nvSpPr>
          <p:cNvPr id="6" name="Phase text 1"/>
          <p:cNvSpPr txBox="1"/>
          <p:nvPr/>
        </p:nvSpPr>
        <p:spPr>
          <a:xfrm>
            <a:off x="566928" y="1920240"/>
            <a:ext cx="1700784" cy="1097280"/>
          </a:xfrm>
          <a:prstGeom prst="rect">
            <a:avLst/>
          </a:prstGeom>
          <a:noFill/>
          <a:ln/>
        </p:spPr>
        <p:txBody>
          <a:bodyPr wrap="square" lIns="0" tIns="0" rIns="0" bIns="0" rtlCol="0" anchor="t"/>
          <a:lstStyle/>
          <a:p>
            <a:pPr indent="0" marL="0">
              <a:buNone/>
            </a:pPr>
            <a:r>
              <a:rPr lang="en-US" sz="1200" dirty="0">
                <a:solidFill>
                  <a:srgbClr val="12263A"/>
                </a:solidFill>
              </a:rPr>
              <a:t>Stakeholder sessions, data request, success metrics agreed</a:t>
            </a:r>
            <a:endParaRPr lang="en-US" sz="1200" dirty="0"/>
          </a:p>
        </p:txBody>
      </p:sp>
      <p:sp>
        <p:nvSpPr>
          <p:cNvPr id="7" name="Phase 2"/>
          <p:cNvSpPr/>
          <p:nvPr/>
        </p:nvSpPr>
        <p:spPr>
          <a:xfrm>
            <a:off x="2542032" y="1325880"/>
            <a:ext cx="1920240" cy="1737360"/>
          </a:xfrm>
          <a:prstGeom prst="rect">
            <a:avLst/>
          </a:prstGeom>
          <a:solidFill>
            <a:srgbClr val="EEF2F6"/>
          </a:solidFill>
          <a:ln w="9525">
            <a:solidFill>
              <a:srgbClr val="D5DDE6"/>
            </a:solidFill>
            <a:prstDash val="solid"/>
          </a:ln>
        </p:spPr>
      </p:sp>
      <p:sp>
        <p:nvSpPr>
          <p:cNvPr id="8" name="Phase title 2"/>
          <p:cNvSpPr txBox="1"/>
          <p:nvPr/>
        </p:nvSpPr>
        <p:spPr>
          <a:xfrm>
            <a:off x="2651760" y="1389888"/>
            <a:ext cx="1700784" cy="457200"/>
          </a:xfrm>
          <a:prstGeom prst="rect">
            <a:avLst/>
          </a:prstGeom>
          <a:noFill/>
          <a:ln/>
        </p:spPr>
        <p:txBody>
          <a:bodyPr wrap="square" lIns="0" tIns="0" rIns="0" bIns="0" rtlCol="0" anchor="t"/>
          <a:lstStyle/>
          <a:p>
            <a:pPr indent="0" marL="0">
              <a:buNone/>
            </a:pPr>
            <a:r>
              <a:rPr lang="en-US" sz="1400" b="1" dirty="0">
                <a:solidFill>
                  <a:srgbClr val="12263A"/>
                </a:solidFill>
                <a:latin typeface="Georgia" pitchFamily="34" charset="0"/>
                <a:ea typeface="Georgia" pitchFamily="34" charset="-122"/>
                <a:cs typeface="Georgia" pitchFamily="34" charset="-120"/>
              </a:rPr>
              <a:t>Weeks 2-4  Build</a:t>
            </a:r>
            <a:endParaRPr lang="en-US" sz="1400" dirty="0"/>
          </a:p>
        </p:txBody>
      </p:sp>
      <p:sp>
        <p:nvSpPr>
          <p:cNvPr id="9" name="Phase text 2"/>
          <p:cNvSpPr txBox="1"/>
          <p:nvPr/>
        </p:nvSpPr>
        <p:spPr>
          <a:xfrm>
            <a:off x="2651760" y="1920240"/>
            <a:ext cx="1700784" cy="1097280"/>
          </a:xfrm>
          <a:prstGeom prst="rect">
            <a:avLst/>
          </a:prstGeom>
          <a:noFill/>
          <a:ln/>
        </p:spPr>
        <p:txBody>
          <a:bodyPr wrap="square" lIns="0" tIns="0" rIns="0" bIns="0" rtlCol="0" anchor="t"/>
          <a:lstStyle/>
          <a:p>
            <a:pPr indent="0" marL="0">
              <a:buNone/>
            </a:pPr>
            <a:r>
              <a:rPr lang="en-US" sz="1200" dirty="0">
                <a:solidFill>
                  <a:srgbClr val="12263A"/>
                </a:solidFill>
              </a:rPr>
              <a:t>Calibrate revenue model, build app, first review with client</a:t>
            </a:r>
            <a:endParaRPr lang="en-US" sz="1200" dirty="0"/>
          </a:p>
        </p:txBody>
      </p:sp>
      <p:sp>
        <p:nvSpPr>
          <p:cNvPr id="10" name="Phase 3"/>
          <p:cNvSpPr/>
          <p:nvPr/>
        </p:nvSpPr>
        <p:spPr>
          <a:xfrm>
            <a:off x="4626864" y="1325880"/>
            <a:ext cx="1920240" cy="1737360"/>
          </a:xfrm>
          <a:prstGeom prst="rect">
            <a:avLst/>
          </a:prstGeom>
          <a:solidFill>
            <a:srgbClr val="EEF2F6"/>
          </a:solidFill>
          <a:ln w="9525">
            <a:solidFill>
              <a:srgbClr val="D5DDE6"/>
            </a:solidFill>
            <a:prstDash val="solid"/>
          </a:ln>
        </p:spPr>
      </p:sp>
      <p:sp>
        <p:nvSpPr>
          <p:cNvPr id="11" name="Phase title 3"/>
          <p:cNvSpPr txBox="1"/>
          <p:nvPr/>
        </p:nvSpPr>
        <p:spPr>
          <a:xfrm>
            <a:off x="4736592" y="1389888"/>
            <a:ext cx="1700784" cy="457200"/>
          </a:xfrm>
          <a:prstGeom prst="rect">
            <a:avLst/>
          </a:prstGeom>
          <a:noFill/>
          <a:ln/>
        </p:spPr>
        <p:txBody>
          <a:bodyPr wrap="square" lIns="0" tIns="0" rIns="0" bIns="0" rtlCol="0" anchor="t"/>
          <a:lstStyle/>
          <a:p>
            <a:pPr indent="0" marL="0">
              <a:buNone/>
            </a:pPr>
            <a:r>
              <a:rPr lang="en-US" sz="1400" b="1" dirty="0">
                <a:solidFill>
                  <a:srgbClr val="12263A"/>
                </a:solidFill>
                <a:latin typeface="Georgia" pitchFamily="34" charset="0"/>
                <a:ea typeface="Georgia" pitchFamily="34" charset="-122"/>
                <a:cs typeface="Georgia" pitchFamily="34" charset="-120"/>
              </a:rPr>
              <a:t>Week 5  Validate</a:t>
            </a:r>
            <a:endParaRPr lang="en-US" sz="1400" dirty="0"/>
          </a:p>
        </p:txBody>
      </p:sp>
      <p:sp>
        <p:nvSpPr>
          <p:cNvPr id="12" name="Phase text 3"/>
          <p:cNvSpPr txBox="1"/>
          <p:nvPr/>
        </p:nvSpPr>
        <p:spPr>
          <a:xfrm>
            <a:off x="4736592" y="1920240"/>
            <a:ext cx="1700784" cy="1097280"/>
          </a:xfrm>
          <a:prstGeom prst="rect">
            <a:avLst/>
          </a:prstGeom>
          <a:noFill/>
          <a:ln/>
        </p:spPr>
        <p:txBody>
          <a:bodyPr wrap="square" lIns="0" tIns="0" rIns="0" bIns="0" rtlCol="0" anchor="t"/>
          <a:lstStyle/>
          <a:p>
            <a:pPr indent="0" marL="0">
              <a:buNone/>
            </a:pPr>
            <a:r>
              <a:rPr lang="en-US" sz="1200" dirty="0">
                <a:solidFill>
                  <a:srgbClr val="12263A"/>
                </a:solidFill>
              </a:rPr>
              <a:t>Back-test with finance and ops, stress tests, recommendation</a:t>
            </a:r>
            <a:endParaRPr lang="en-US" sz="1200" dirty="0"/>
          </a:p>
        </p:txBody>
      </p:sp>
      <p:sp>
        <p:nvSpPr>
          <p:cNvPr id="13" name="Phase 4"/>
          <p:cNvSpPr/>
          <p:nvPr/>
        </p:nvSpPr>
        <p:spPr>
          <a:xfrm>
            <a:off x="6711696" y="1325880"/>
            <a:ext cx="1920240" cy="1737360"/>
          </a:xfrm>
          <a:prstGeom prst="rect">
            <a:avLst/>
          </a:prstGeom>
          <a:solidFill>
            <a:srgbClr val="2347D9"/>
          </a:solidFill>
          <a:ln w="9525">
            <a:solidFill>
              <a:srgbClr val="D5DDE6"/>
            </a:solidFill>
            <a:prstDash val="solid"/>
          </a:ln>
        </p:spPr>
      </p:sp>
      <p:sp>
        <p:nvSpPr>
          <p:cNvPr id="14" name="Phase title 4"/>
          <p:cNvSpPr txBox="1"/>
          <p:nvPr/>
        </p:nvSpPr>
        <p:spPr>
          <a:xfrm>
            <a:off x="6821424" y="1389888"/>
            <a:ext cx="1700784" cy="457200"/>
          </a:xfrm>
          <a:prstGeom prst="rect">
            <a:avLst/>
          </a:prstGeom>
          <a:noFill/>
          <a:ln/>
        </p:spPr>
        <p:txBody>
          <a:bodyPr wrap="square" lIns="0" tIns="0" rIns="0" bIns="0" rtlCol="0" anchor="t"/>
          <a:lstStyle/>
          <a:p>
            <a:pPr indent="0" marL="0">
              <a:buNone/>
            </a:pPr>
            <a:r>
              <a:rPr lang="en-US" sz="1400" b="1" dirty="0">
                <a:solidFill>
                  <a:srgbClr val="FFFFFF"/>
                </a:solidFill>
                <a:latin typeface="Georgia" pitchFamily="34" charset="0"/>
                <a:ea typeface="Georgia" pitchFamily="34" charset="-122"/>
                <a:cs typeface="Georgia" pitchFamily="34" charset="-120"/>
              </a:rPr>
              <a:t>Week 6  Decide</a:t>
            </a:r>
            <a:endParaRPr lang="en-US" sz="1400" dirty="0"/>
          </a:p>
        </p:txBody>
      </p:sp>
      <p:sp>
        <p:nvSpPr>
          <p:cNvPr id="15" name="Phase text 4"/>
          <p:cNvSpPr txBox="1"/>
          <p:nvPr/>
        </p:nvSpPr>
        <p:spPr>
          <a:xfrm>
            <a:off x="6821424" y="1920240"/>
            <a:ext cx="1700784" cy="1097280"/>
          </a:xfrm>
          <a:prstGeom prst="rect">
            <a:avLst/>
          </a:prstGeom>
          <a:noFill/>
          <a:ln/>
        </p:spPr>
        <p:txBody>
          <a:bodyPr wrap="square" lIns="0" tIns="0" rIns="0" bIns="0" rtlCol="0" anchor="t"/>
          <a:lstStyle/>
          <a:p>
            <a:pPr indent="0" marL="0">
              <a:buNone/>
            </a:pPr>
            <a:r>
              <a:rPr lang="en-US" sz="1200" dirty="0">
                <a:solidFill>
                  <a:srgbClr val="FFFFFF"/>
                </a:solidFill>
              </a:rPr>
              <a:t>Pitch to leadership, pilot design, handover and training</a:t>
            </a:r>
            <a:endParaRPr lang="en-US" sz="1200" dirty="0"/>
          </a:p>
        </p:txBody>
      </p:sp>
      <p:sp>
        <p:nvSpPr>
          <p:cNvPr id="16" name="Plan notes"/>
          <p:cNvSpPr txBox="1"/>
          <p:nvPr/>
        </p:nvSpPr>
        <p:spPr>
          <a:xfrm>
            <a:off x="457200" y="3291840"/>
            <a:ext cx="8229600" cy="1371600"/>
          </a:xfrm>
          <a:prstGeom prst="rect">
            <a:avLst/>
          </a:prstGeom>
          <a:noFill/>
          <a:ln/>
        </p:spPr>
        <p:txBody>
          <a:bodyPr wrap="square" lIns="0" tIns="0" rIns="0" bIns="0" rtlCol="0" anchor="t"/>
          <a:lstStyle/>
          <a:p>
            <a:pPr indent="0" marL="0">
              <a:spcAft>
                <a:spcPts val="600"/>
              </a:spcAft>
              <a:buNone/>
            </a:pPr>
            <a:r>
              <a:rPr lang="en-US" sz="1300" b="1" dirty="0">
                <a:solidFill>
                  <a:srgbClr val="12263A"/>
                </a:solidFill>
              </a:rPr>
              <a:t>Governance: </a:t>
            </a:r>
            <a:pPr indent="0" marL="0">
              <a:spcAft>
                <a:spcPts val="600"/>
              </a:spcAft>
              <a:buNone/>
            </a:pPr>
            <a:r>
              <a:rPr lang="en-US" sz="1300" dirty="0">
                <a:solidFill>
                  <a:srgbClr val="12263A"/>
                </a:solidFill>
              </a:rPr>
              <a:t>weekly client update; leadership alerted at data sign-off, model validation and final recommendation.</a:t>
            </a:r>
            <a:endParaRPr lang="en-US" sz="1300" dirty="0"/>
          </a:p>
          <a:p>
            <a:pPr indent="0" marL="0">
              <a:spcAft>
                <a:spcPts val="600"/>
              </a:spcAft>
              <a:buNone/>
            </a:pPr>
            <a:r>
              <a:rPr lang="en-US" sz="1300" b="1" dirty="0">
                <a:solidFill>
                  <a:srgbClr val="12263A"/>
                </a:solidFill>
              </a:rPr>
              <a:t>Success measures: </a:t>
            </a:r>
            <a:pPr indent="0" marL="0">
              <a:spcAft>
                <a:spcPts val="600"/>
              </a:spcAft>
              <a:buNone/>
            </a:pPr>
            <a:r>
              <a:rPr lang="en-US" sz="1300" dirty="0">
                <a:solidFill>
                  <a:srgbClr val="12263A"/>
                </a:solidFill>
              </a:rPr>
              <a:t>forecast within 15% of pilot actuals, cannibalisation within the modelled share, client health check and NPS at each milestone.</a:t>
            </a:r>
            <a:endParaRPr lang="en-US" sz="1300" dirty="0"/>
          </a:p>
          <a:p>
            <a:pPr indent="0" marL="0">
              <a:spcAft>
                <a:spcPts val="600"/>
              </a:spcAft>
              <a:buNone/>
            </a:pPr>
            <a:r>
              <a:rPr lang="en-US" sz="1300" b="1" dirty="0">
                <a:solidFill>
                  <a:srgbClr val="12263A"/>
                </a:solidFill>
              </a:rPr>
              <a:t>ROI case: </a:t>
            </a:r>
            <a:pPr indent="0" marL="0">
              <a:spcAft>
                <a:spcPts val="600"/>
              </a:spcAft>
              <a:buNone/>
            </a:pPr>
            <a:r>
              <a:rPr lang="en-US" sz="1300" dirty="0">
                <a:solidFill>
                  <a:srgbClr val="12263A"/>
                </a:solidFill>
              </a:rPr>
              <a:t>₹5.0 Cr more expected NPV per 3-store round than the footfall rule (synthetic data).</a:t>
            </a:r>
            <a:endParaRPr lang="en-US" sz="13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rtlCol="0" anchor="ctr"/>
          <a:lstStyle/>
          <a:p>
            <a:pPr algn="l" indent="0" marL="0">
              <a:buNone/>
            </a:pPr>
            <a:r>
              <a:rPr lang="en-US" sz="2200" b="1" dirty="0">
                <a:solidFill>
                  <a:srgbClr val="12263A"/>
                </a:solidFill>
              </a:rPr>
              <a:t>Data and key assumptions</a:t>
            </a:r>
            <a:endParaRPr lang="en-US" sz="2200" dirty="0"/>
          </a:p>
        </p:txBody>
      </p:sp>
      <p:graphicFrame>
        <p:nvGraphicFramePr>
          <p:cNvPr id="9" name="Assumptions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371600"/>
                <a:gridCol w="6858000"/>
              </a:tblGrid>
              <a:tr h="0">
                <a:tc>
                  <a:txBody>
                    <a:bodyPr/>
                    <a:lstStyle/>
                    <a:p>
                      <a:pPr indent="0" marL="0">
                        <a:buNone/>
                      </a:pPr>
                      <a:r>
                        <a:rPr lang="en-US" sz="1100" b="1" dirty="0">
                          <a:solidFill>
                            <a:srgbClr val="1F3A5F"/>
                          </a:solidFill>
                        </a:rPr>
                        <a:t>Data</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100" dirty="0">
                          <a:solidFill>
                            <a:srgbClr val="12263A"/>
                          </a:solidFill>
                        </a:rPr>
                        <a:t>10 candidate sites and 6 existing stores, synthetic; coordinates approximate</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100" b="1" dirty="0">
                          <a:solidFill>
                            <a:srgbClr val="1F3A5F"/>
                          </a:solidFill>
                        </a:rPr>
                        <a:t>Revenue</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100" dirty="0">
                          <a:solidFill>
                            <a:srgbClr val="12263A"/>
                          </a:solidFill>
                        </a:rPr>
                        <a:t>Footfall × (income ÷ ₹15 L)^0.5 × (accessibility ÷ 7)^0.3 × (population ÷ 350k)^0.2 ÷ (1 + 10% per competitor), scaled by a constant fitted on the 6 stores (in-sample error about 5%; forecast uncertainty floored at 15%). Elasticities are assumptions</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100" b="1" dirty="0">
                          <a:solidFill>
                            <a:srgbClr val="1F3A5F"/>
                          </a:solidFill>
                        </a:rPr>
                        <a:t>Economics</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100" dirty="0">
                          <a:solidFill>
                            <a:srgbClr val="12263A"/>
                          </a:solidFill>
                        </a:rPr>
                        <a:t>3,000 sq ft store, 40% gross margin, ₹5.5 L other monthly costs, ₹90 L fit-out, 6-month deposit refunded in year 7</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100" b="1" dirty="0">
                          <a:solidFill>
                            <a:srgbClr val="1F3A5F"/>
                          </a:solidFill>
                        </a:rPr>
                        <a:t>Valuation</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100" dirty="0">
                          <a:solidFill>
                            <a:srgbClr val="12263A"/>
                          </a:solidFill>
                        </a:rPr>
                        <a:t>84 months, 12% discount rate, sales at 70% in year 1 and 90% in year 2</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100" b="1" dirty="0">
                          <a:solidFill>
                            <a:srgbClr val="1F3A5F"/>
                          </a:solidFill>
                        </a:rPr>
                        <a:t>Cannibalisation</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100" dirty="0">
                          <a:solidFill>
                            <a:srgbClr val="12263A"/>
                          </a:solidFill>
                        </a:rPr>
                        <a:t>Up to 30% of sales from each existing store, fading to zero at 7 km, capped at 50%; new stores take half that from each other</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100" b="1" dirty="0">
                          <a:solidFill>
                            <a:srgbClr val="1F3A5F"/>
                          </a:solidFill>
                        </a:rPr>
                        <a:t>Uncertainty</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100" dirty="0">
                          <a:solidFill>
                            <a:srgbClr val="12263A"/>
                          </a:solidFill>
                        </a:rPr>
                        <a:t>3,000 simulations of revenue error, gross margin (±8%) and rent (±10%)</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0">
                <a:tc>
                  <a:txBody>
                    <a:bodyPr/>
                    <a:lstStyle/>
                    <a:p>
                      <a:pPr indent="0" marL="0">
                        <a:buNone/>
                      </a:pPr>
                      <a:r>
                        <a:rPr lang="en-US" sz="1100" b="1" dirty="0">
                          <a:solidFill>
                            <a:srgbClr val="1F3A5F"/>
                          </a:solidFill>
                        </a:rPr>
                        <a:t>Decision rule</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100" dirty="0">
                          <a:solidFill>
                            <a:srgbClr val="12263A"/>
                          </a:solidFill>
                        </a:rPr>
                        <a:t>Sites need at least a 60% chance of NPV above zero; best average of expected and P10 NPV within a ₹5 Cr budget for 3 stores</a:t>
                      </a:r>
                      <a:endParaRPr lang="en-US" sz="1100" dirty="0"/>
                    </a:p>
                  </a:txBody>
                  <a:tcPr marL="76200" marR="76200" marT="38100" marB="3810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Site Selector">
  <a:themeElements>
    <a:clrScheme name="Site Selector">
      <a:dk1>
        <a:srgbClr val="12263A"/>
      </a:dk1>
      <a:lt1>
        <a:srgbClr val="FFFFFF"/>
      </a:lt1>
      <a:dk2>
        <a:srgbClr val="1F3A5F"/>
      </a:dk2>
      <a:lt2>
        <a:srgbClr val="EEF2F6"/>
      </a:lt2>
      <a:accent1>
        <a:srgbClr val="2347D9"/>
      </a:accent1>
      <a:accent2>
        <a:srgbClr val="D92D20"/>
      </a:accent2>
      <a:accent3>
        <a:srgbClr val="067647"/>
      </a:accent3>
      <a:accent4>
        <a:srgbClr val="F79009"/>
      </a:accent4>
      <a:accent5>
        <a:srgbClr val="98A2B3"/>
      </a:accent5>
      <a:accent6>
        <a:srgbClr val="5B6B7C"/>
      </a:accent6>
      <a:hlink>
        <a:srgbClr val="2347D9"/>
      </a:hlink>
      <a:folHlink>
        <a:srgbClr val="5B6B7C"/>
      </a:folHlink>
    </a:clrScheme>
    <a:fontScheme name="Site Selec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should the next store open?</dc:title>
  <dc:subject>PptxGenJS Presentation</dc:subject>
  <dc:creator>Raghav</dc:creator>
  <cp:lastModifiedBy>Raghav</cp:lastModifiedBy>
  <cp:revision>1</cp:revision>
  <dcterms:created xsi:type="dcterms:W3CDTF">2026-10-04T00:12:15Z</dcterms:created>
  <dcterms:modified xsi:type="dcterms:W3CDTF">2026-10-04T00:12:15Z</dcterms:modified>
</cp:coreProperties>
</file>